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2328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F2328"/>
                </a:solidFill>
                <a:latin typeface="+mn-lt"/>
              </a:rPr>
              <a:t>注入层的误差倍数（≥3× 判为分叉）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注入层的误差倍数</c:v>
                </c:pt>
              </c:strCache>
            </c:strRef>
          </c:tx>
          <c:spPr>
            <a:solidFill>
              <a:srgbClr val="C2410C"/>
            </a:solidFill>
            <a:effectLst/>
          </c:spPr>
          <c:invertIfNegative val="0"/>
          <c:dLbls>
            <c:numFmt formatCode="0.0&quot;×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32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2410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2410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2410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241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241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9CA3AF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9CA3AF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L3 MLP</c:v>
                  </c:pt>
                  <c:pt idx="1">
                    <c:v>L10 MLP</c:v>
                  </c:pt>
                  <c:pt idx="2">
                    <c:v>L17 MLP</c:v>
                  </c:pt>
                  <c:pt idx="3">
                    <c:v>L24 MLP</c:v>
                  </c:pt>
                  <c:pt idx="4">
                    <c:v>L6 attn 20%</c:v>
                  </c:pt>
                  <c:pt idx="5">
                    <c:v>L21 attn 20%</c:v>
                  </c:pt>
                  <c:pt idx="6">
                    <c:v>L6 attn 3%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8.74</c:v>
                </c:pt>
                <c:pt idx="1">
                  <c:v>14.29</c:v>
                </c:pt>
                <c:pt idx="2">
                  <c:v>3.31</c:v>
                </c:pt>
                <c:pt idx="3">
                  <c:v>3.55</c:v>
                </c:pt>
                <c:pt idx="4">
                  <c:v>3.21</c:v>
                </c:pt>
                <c:pt idx="5">
                  <c:v>2.84</c:v>
                </c:pt>
                <c:pt idx="6">
                  <c:v>1.13</c:v>
                </c:pt>
              </c:numCache>
            </c:numRef>
          </c:val>
        </c:ser>
        <c:dLbls>
          <c:numFmt formatCode="0.0&quot;×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F232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</c:scaling>
        <c:delete val="0"/>
        <c:axPos val="l"/>
        <c:majorGridlines>
          <c:spPr>
            <a:ln w="12700" cap="flat">
              <a:solidFill>
                <a:srgbClr val="EEF0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2328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F2328"/>
                </a:solidFill>
                <a:latin typeface="+mn-lt"/>
              </a:rPr>
              <a:t>1024 token 前向耗时（ms，C500 16GB 切分）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sdpa</c:v>
                </c:pt>
              </c:strCache>
            </c:strRef>
          </c:tx>
          <c:spPr>
            <a:solidFill>
              <a:srgbClr val="9CA3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32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Qwen2.5-0.5B</c:v>
                  </c:pt>
                  <c:pt idx="1">
                    <c:v>Qwen2.5-3B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43.4</c:v>
                </c:pt>
                <c:pt idx="1">
                  <c:v>108.7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沐曦 flash-attn</c:v>
                </c:pt>
              </c:strCache>
            </c:strRef>
          </c:tx>
          <c:spPr>
            <a:solidFill>
              <a:srgbClr val="0E749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32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Qwen2.5-0.5B</c:v>
                  </c:pt>
                  <c:pt idx="1">
                    <c:v>Qwen2.5-3B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29.4</c:v>
                </c:pt>
                <c:pt idx="1">
                  <c:v>73.8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eager</c:v>
                </c:pt>
              </c:strCache>
            </c:strRef>
          </c:tx>
          <c:spPr>
            <a:solidFill>
              <a:srgbClr val="A7D3B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32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Qwen2.5-0.5B</c:v>
                  </c:pt>
                  <c:pt idx="1">
                    <c:v>Qwen2.5-3B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30.6</c:v>
                </c:pt>
                <c:pt idx="1">
                  <c:v>80.5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F232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EF0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UniVis 是一个开源的逐层对照工具：当一个大模型被搬到国产 GPU，比如沐曦曦云 C500 上运行时，它回答两个问题：算得对不对；如果不对，是从哪一层开始不对。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同一个模型换了硬件、软件栈或者算子库，输出总会有点不同。难的是判断这点不同是正常的精度误差，还是某一层的算子写错了。我们做了一个实验：一个数值栈完全正确，另一个在第十七层故意写错一个激活函数。两者和参考答案的 top-1 一致率都是百分之九十六点二，只看输出根本分不出来。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方法分四步。第一，teacher forcing：两端喂完全相同的 token，一次前向跑完，保证逐位置严格对齐。第二，在每一层出口用一个固定的随机矩阵把隐藏状态压到六十四维，只存几兆字节的指纹。因为投影是线性的，两台机器各存草图就能估计误差。第三，用一个已知正常的同精度实现作为容差基线。第四，给出三种结论：一致、分叉并指出起点，或者无法判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上手只要两行：安装，然后运行 univis diff demo。它在 CPU 上把同一个模型跑三遍，生成右边这份报告：判定为分叉，起点是第十七层的 MLP 输出。不需要 GPU。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为了检验工具本身，我们在 CPU 上把不同层的算子故意写错。激活函数写错的四个位置和缩放偏差百分之二十的 attention，都被准确定位到对应的层和子层。我们也如实展示边界：偏差只有百分之三的 attention 会被正常的 bf16 误差淹没，第二十一层偏百分之二十的只放大到二点八四倍，略低于阈值。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这是在沐曦曦云 C500 上的真机结果。参考端是 NVIDIA RTX 5090 的 fp32，容差是 RTX 5090 的 bf16，两端输入逐 token 相同。Qwen2.5 的零点五 B、三 B、七 B 三个规模，每一层的误差都在容差的一点三五倍以内，远低于三倍的阈值。一千零二十四 token 的长序列也全部通过。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算子替换是适配中最常见的操作。我们把注意力换成镜像自带的沐曦 flash-attention：逐层精度依然在容差内，而处理一千零二十四 token 的前向时间，三 B 模型从一百零九毫秒降到七十四毫秒。这就是 UniVis 的典型用法：换算子之后，用它确认没有算错。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对照中我们还发现，官方镜像默认打开了 TORCH_ALLOW_TF32_CUBLAS_OVERRIDE，所以 fp32 矩阵乘法实际按 TF32 执行。和严格 fp32 相比误差大约两百九十倍。NVIDIA 上 PyTorch 默认是关闭的。需要严格 fp32 的用户，只要把这个变量设为零即可。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方法上我们也做了自查。C500 用 eager 注意力时，一度在第零层报了分叉，倍数三点零零。我们没有直接下结论，而是做了阳性对照：换成同样是 eager 实现的 NVIDIA 基线，判定恢复为通过；而在 NVIDIA 自己身上，eager 和 sdpa 之间也差到二点九五倍。原因是容差基线和待检端用了不同的注意力实现。这条经验已经写进使用契约。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所有证据都公开、可复核。在线体验页面不需要 GPU：你可以亲手选一层弄坏，看 UniVis 能不能找出来，也能查看 C500 对 RTX 5090 的全部真机数据。工程上，项目已经发布到 PyPI，有九十四项单元测试和持续集成，环境指纹、原始结果和录制脚本都在仓库里。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项目按阶段推进。阶段 A 和 B 在八月完成了 C500 上的采集通路和跨规模对照；阶段 C 在十月三十日完成了逐层对照的真机验证。接下来是逐层耗时对照，找出在 C500 上偏慢的层，换上 FlagGems 或 mcTriton 算子，再用 UniVis 验证精度不变；以及量化前后的逐层对照。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UniVis 的目标很简单：让每个模型在国产 GPU 上算得对。欢迎在线体验，也欢迎在遇到输出和 NVIDIA 不一致时来提 issue，我们一起定位。谢谢。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22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UniVis · 国产 GPU 上的大模型逐层对照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UniVis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97180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国产 GPU 上的大模型，逐层对照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033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B9D6C4"/>
                </a:solidFill>
              </a:rPr>
              <a:t>模型搬到沐曦曦云 C500 上以后，算得对不对？如果不对，从哪一层开始不对？</a:t>
            </a:r>
            <a:endParaRPr lang="en-US" sz="1700" dirty="0"/>
          </a:p>
        </p:txBody>
      </p:sp>
      <p:sp>
        <p:nvSpPr>
          <p:cNvPr id="5" name="layer-0"/>
          <p:cNvSpPr/>
          <p:nvPr/>
        </p:nvSpPr>
        <p:spPr>
          <a:xfrm>
            <a:off x="731520" y="4617720"/>
            <a:ext cx="181356" cy="292608"/>
          </a:xfrm>
          <a:prstGeom prst="roundRect">
            <a:avLst>
              <a:gd name="adj" fmla="val 20168"/>
            </a:avLst>
          </a:prstGeom>
          <a:solidFill>
            <a:srgbClr val="2F6F4A"/>
          </a:solidFill>
          <a:ln w="12700">
            <a:solidFill>
              <a:srgbClr val="2F6F4A"/>
            </a:solidFill>
            <a:prstDash val="solid"/>
          </a:ln>
        </p:spPr>
      </p:sp>
      <p:sp>
        <p:nvSpPr>
          <p:cNvPr id="6" name="layer-1"/>
          <p:cNvSpPr/>
          <p:nvPr/>
        </p:nvSpPr>
        <p:spPr>
          <a:xfrm>
            <a:off x="958596" y="4617720"/>
            <a:ext cx="181356" cy="292608"/>
          </a:xfrm>
          <a:prstGeom prst="roundRect">
            <a:avLst>
              <a:gd name="adj" fmla="val 20168"/>
            </a:avLst>
          </a:prstGeom>
          <a:solidFill>
            <a:srgbClr val="2F6F4A"/>
          </a:solidFill>
          <a:ln w="12700">
            <a:solidFill>
              <a:srgbClr val="2F6F4A"/>
            </a:solidFill>
            <a:prstDash val="solid"/>
          </a:ln>
        </p:spPr>
      </p:sp>
      <p:sp>
        <p:nvSpPr>
          <p:cNvPr id="7" name="layer-2"/>
          <p:cNvSpPr/>
          <p:nvPr/>
        </p:nvSpPr>
        <p:spPr>
          <a:xfrm>
            <a:off x="1185672" y="4617720"/>
            <a:ext cx="181356" cy="292608"/>
          </a:xfrm>
          <a:prstGeom prst="roundRect">
            <a:avLst>
              <a:gd name="adj" fmla="val 20168"/>
            </a:avLst>
          </a:prstGeom>
          <a:solidFill>
            <a:srgbClr val="2F6F4A"/>
          </a:solidFill>
          <a:ln w="12700">
            <a:solidFill>
              <a:srgbClr val="2F6F4A"/>
            </a:solidFill>
            <a:prstDash val="solid"/>
          </a:ln>
        </p:spPr>
      </p:sp>
      <p:sp>
        <p:nvSpPr>
          <p:cNvPr id="8" name="layer-3"/>
          <p:cNvSpPr/>
          <p:nvPr/>
        </p:nvSpPr>
        <p:spPr>
          <a:xfrm>
            <a:off x="1412748" y="4617720"/>
            <a:ext cx="181356" cy="292608"/>
          </a:xfrm>
          <a:prstGeom prst="roundRect">
            <a:avLst>
              <a:gd name="adj" fmla="val 20168"/>
            </a:avLst>
          </a:prstGeom>
          <a:solidFill>
            <a:srgbClr val="2F6F4A"/>
          </a:solidFill>
          <a:ln w="12700">
            <a:solidFill>
              <a:srgbClr val="2F6F4A"/>
            </a:solidFill>
            <a:prstDash val="solid"/>
          </a:ln>
        </p:spPr>
      </p:sp>
      <p:sp>
        <p:nvSpPr>
          <p:cNvPr id="9" name="layer-4"/>
          <p:cNvSpPr/>
          <p:nvPr/>
        </p:nvSpPr>
        <p:spPr>
          <a:xfrm>
            <a:off x="1639824" y="4617720"/>
            <a:ext cx="181356" cy="292608"/>
          </a:xfrm>
          <a:prstGeom prst="roundRect">
            <a:avLst>
              <a:gd name="adj" fmla="val 20168"/>
            </a:avLst>
          </a:prstGeom>
          <a:solidFill>
            <a:srgbClr val="2F6F4A"/>
          </a:solidFill>
          <a:ln w="12700">
            <a:solidFill>
              <a:srgbClr val="2F6F4A"/>
            </a:solidFill>
            <a:prstDash val="solid"/>
          </a:ln>
        </p:spPr>
      </p:sp>
      <p:sp>
        <p:nvSpPr>
          <p:cNvPr id="10" name="layer-5"/>
          <p:cNvSpPr/>
          <p:nvPr/>
        </p:nvSpPr>
        <p:spPr>
          <a:xfrm>
            <a:off x="1866900" y="4617720"/>
            <a:ext cx="181356" cy="292608"/>
          </a:xfrm>
          <a:prstGeom prst="roundRect">
            <a:avLst>
              <a:gd name="adj" fmla="val 20168"/>
            </a:avLst>
          </a:prstGeom>
          <a:solidFill>
            <a:srgbClr val="2F6F4A"/>
          </a:solidFill>
          <a:ln w="12700">
            <a:solidFill>
              <a:srgbClr val="2F6F4A"/>
            </a:solidFill>
            <a:prstDash val="solid"/>
          </a:ln>
        </p:spPr>
      </p:sp>
      <p:sp>
        <p:nvSpPr>
          <p:cNvPr id="11" name="layer-6"/>
          <p:cNvSpPr/>
          <p:nvPr/>
        </p:nvSpPr>
        <p:spPr>
          <a:xfrm>
            <a:off x="2093976" y="4617720"/>
            <a:ext cx="181356" cy="292608"/>
          </a:xfrm>
          <a:prstGeom prst="roundRect">
            <a:avLst>
              <a:gd name="adj" fmla="val 20168"/>
            </a:avLst>
          </a:prstGeom>
          <a:solidFill>
            <a:srgbClr val="2F6F4A"/>
          </a:solidFill>
          <a:ln w="12700">
            <a:solidFill>
              <a:srgbClr val="2F6F4A"/>
            </a:solidFill>
            <a:prstDash val="solid"/>
          </a:ln>
        </p:spPr>
      </p:sp>
      <p:sp>
        <p:nvSpPr>
          <p:cNvPr id="12" name="layer-7"/>
          <p:cNvSpPr/>
          <p:nvPr/>
        </p:nvSpPr>
        <p:spPr>
          <a:xfrm>
            <a:off x="2321052" y="4617720"/>
            <a:ext cx="181356" cy="292608"/>
          </a:xfrm>
          <a:prstGeom prst="roundRect">
            <a:avLst>
              <a:gd name="adj" fmla="val 20168"/>
            </a:avLst>
          </a:prstGeom>
          <a:solidFill>
            <a:srgbClr val="2F6F4A"/>
          </a:solidFill>
          <a:ln w="12700">
            <a:solidFill>
              <a:srgbClr val="2F6F4A"/>
            </a:solidFill>
            <a:prstDash val="solid"/>
          </a:ln>
        </p:spPr>
      </p:sp>
      <p:sp>
        <p:nvSpPr>
          <p:cNvPr id="13" name="layer-8"/>
          <p:cNvSpPr/>
          <p:nvPr/>
        </p:nvSpPr>
        <p:spPr>
          <a:xfrm>
            <a:off x="2548128" y="4617720"/>
            <a:ext cx="181356" cy="292608"/>
          </a:xfrm>
          <a:prstGeom prst="roundRect">
            <a:avLst>
              <a:gd name="adj" fmla="val 20168"/>
            </a:avLst>
          </a:prstGeom>
          <a:solidFill>
            <a:srgbClr val="2F6F4A"/>
          </a:solidFill>
          <a:ln w="12700">
            <a:solidFill>
              <a:srgbClr val="2F6F4A"/>
            </a:solidFill>
            <a:prstDash val="solid"/>
          </a:ln>
        </p:spPr>
      </p:sp>
      <p:sp>
        <p:nvSpPr>
          <p:cNvPr id="14" name="layer-9"/>
          <p:cNvSpPr/>
          <p:nvPr/>
        </p:nvSpPr>
        <p:spPr>
          <a:xfrm>
            <a:off x="2775204" y="4617720"/>
            <a:ext cx="181356" cy="292608"/>
          </a:xfrm>
          <a:prstGeom prst="roundRect">
            <a:avLst>
              <a:gd name="adj" fmla="val 20168"/>
            </a:avLst>
          </a:prstGeom>
          <a:solidFill>
            <a:srgbClr val="2F6F4A"/>
          </a:solidFill>
          <a:ln w="12700">
            <a:solidFill>
              <a:srgbClr val="2F6F4A"/>
            </a:solidFill>
            <a:prstDash val="solid"/>
          </a:ln>
        </p:spPr>
      </p:sp>
      <p:sp>
        <p:nvSpPr>
          <p:cNvPr id="15" name="layer-10"/>
          <p:cNvSpPr/>
          <p:nvPr/>
        </p:nvSpPr>
        <p:spPr>
          <a:xfrm>
            <a:off x="3002280" y="4617720"/>
            <a:ext cx="181356" cy="292608"/>
          </a:xfrm>
          <a:prstGeom prst="roundRect">
            <a:avLst>
              <a:gd name="adj" fmla="val 20168"/>
            </a:avLst>
          </a:prstGeom>
          <a:solidFill>
            <a:srgbClr val="2F6F4A"/>
          </a:solidFill>
          <a:ln w="12700">
            <a:solidFill>
              <a:srgbClr val="2F6F4A"/>
            </a:solidFill>
            <a:prstDash val="solid"/>
          </a:ln>
        </p:spPr>
      </p:sp>
      <p:sp>
        <p:nvSpPr>
          <p:cNvPr id="16" name="layer-11"/>
          <p:cNvSpPr/>
          <p:nvPr/>
        </p:nvSpPr>
        <p:spPr>
          <a:xfrm>
            <a:off x="3229356" y="4617720"/>
            <a:ext cx="181356" cy="292608"/>
          </a:xfrm>
          <a:prstGeom prst="roundRect">
            <a:avLst>
              <a:gd name="adj" fmla="val 20168"/>
            </a:avLst>
          </a:prstGeom>
          <a:solidFill>
            <a:srgbClr val="2F6F4A"/>
          </a:solidFill>
          <a:ln w="12700">
            <a:solidFill>
              <a:srgbClr val="2F6F4A"/>
            </a:solidFill>
            <a:prstDash val="solid"/>
          </a:ln>
        </p:spPr>
      </p:sp>
      <p:sp>
        <p:nvSpPr>
          <p:cNvPr id="17" name="layer-12"/>
          <p:cNvSpPr/>
          <p:nvPr/>
        </p:nvSpPr>
        <p:spPr>
          <a:xfrm>
            <a:off x="3456432" y="4617720"/>
            <a:ext cx="181356" cy="292608"/>
          </a:xfrm>
          <a:prstGeom prst="roundRect">
            <a:avLst>
              <a:gd name="adj" fmla="val 20168"/>
            </a:avLst>
          </a:prstGeom>
          <a:solidFill>
            <a:srgbClr val="2F6F4A"/>
          </a:solidFill>
          <a:ln w="12700">
            <a:solidFill>
              <a:srgbClr val="2F6F4A"/>
            </a:solidFill>
            <a:prstDash val="solid"/>
          </a:ln>
        </p:spPr>
      </p:sp>
      <p:sp>
        <p:nvSpPr>
          <p:cNvPr id="18" name="layer-13"/>
          <p:cNvSpPr/>
          <p:nvPr/>
        </p:nvSpPr>
        <p:spPr>
          <a:xfrm>
            <a:off x="3683508" y="4617720"/>
            <a:ext cx="181356" cy="292608"/>
          </a:xfrm>
          <a:prstGeom prst="roundRect">
            <a:avLst>
              <a:gd name="adj" fmla="val 20168"/>
            </a:avLst>
          </a:prstGeom>
          <a:solidFill>
            <a:srgbClr val="2F6F4A"/>
          </a:solidFill>
          <a:ln w="12700">
            <a:solidFill>
              <a:srgbClr val="2F6F4A"/>
            </a:solidFill>
            <a:prstDash val="solid"/>
          </a:ln>
        </p:spPr>
      </p:sp>
      <p:sp>
        <p:nvSpPr>
          <p:cNvPr id="19" name="layer-14"/>
          <p:cNvSpPr/>
          <p:nvPr/>
        </p:nvSpPr>
        <p:spPr>
          <a:xfrm>
            <a:off x="3910584" y="4617720"/>
            <a:ext cx="181356" cy="292608"/>
          </a:xfrm>
          <a:prstGeom prst="roundRect">
            <a:avLst>
              <a:gd name="adj" fmla="val 20168"/>
            </a:avLst>
          </a:prstGeom>
          <a:solidFill>
            <a:srgbClr val="2F6F4A"/>
          </a:solidFill>
          <a:ln w="12700">
            <a:solidFill>
              <a:srgbClr val="2F6F4A"/>
            </a:solidFill>
            <a:prstDash val="solid"/>
          </a:ln>
        </p:spPr>
      </p:sp>
      <p:sp>
        <p:nvSpPr>
          <p:cNvPr id="20" name="layer-15"/>
          <p:cNvSpPr/>
          <p:nvPr/>
        </p:nvSpPr>
        <p:spPr>
          <a:xfrm>
            <a:off x="4137660" y="4617720"/>
            <a:ext cx="181356" cy="292608"/>
          </a:xfrm>
          <a:prstGeom prst="roundRect">
            <a:avLst>
              <a:gd name="adj" fmla="val 20168"/>
            </a:avLst>
          </a:prstGeom>
          <a:solidFill>
            <a:srgbClr val="2F6F4A"/>
          </a:solidFill>
          <a:ln w="12700">
            <a:solidFill>
              <a:srgbClr val="2F6F4A"/>
            </a:solidFill>
            <a:prstDash val="solid"/>
          </a:ln>
        </p:spPr>
      </p:sp>
      <p:sp>
        <p:nvSpPr>
          <p:cNvPr id="21" name="layer-16"/>
          <p:cNvSpPr/>
          <p:nvPr/>
        </p:nvSpPr>
        <p:spPr>
          <a:xfrm>
            <a:off x="4364736" y="4617720"/>
            <a:ext cx="181356" cy="292608"/>
          </a:xfrm>
          <a:prstGeom prst="roundRect">
            <a:avLst>
              <a:gd name="adj" fmla="val 20168"/>
            </a:avLst>
          </a:prstGeom>
          <a:solidFill>
            <a:srgbClr val="2F6F4A"/>
          </a:solidFill>
          <a:ln w="12700">
            <a:solidFill>
              <a:srgbClr val="2F6F4A"/>
            </a:solidFill>
            <a:prstDash val="solid"/>
          </a:ln>
        </p:spPr>
      </p:sp>
      <p:sp>
        <p:nvSpPr>
          <p:cNvPr id="22" name="layer-17"/>
          <p:cNvSpPr/>
          <p:nvPr/>
        </p:nvSpPr>
        <p:spPr>
          <a:xfrm>
            <a:off x="4591812" y="4617720"/>
            <a:ext cx="181356" cy="292608"/>
          </a:xfrm>
          <a:prstGeom prst="roundRect">
            <a:avLst>
              <a:gd name="adj" fmla="val 20168"/>
            </a:avLst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23" name="layer-18"/>
          <p:cNvSpPr/>
          <p:nvPr/>
        </p:nvSpPr>
        <p:spPr>
          <a:xfrm>
            <a:off x="4818888" y="4617720"/>
            <a:ext cx="181356" cy="292608"/>
          </a:xfrm>
          <a:prstGeom prst="roundRect">
            <a:avLst>
              <a:gd name="adj" fmla="val 20168"/>
            </a:avLst>
          </a:prstGeom>
          <a:solidFill>
            <a:srgbClr val="E9A47C"/>
          </a:solidFill>
          <a:ln w="12700">
            <a:solidFill>
              <a:srgbClr val="E9A47C"/>
            </a:solidFill>
            <a:prstDash val="solid"/>
          </a:ln>
        </p:spPr>
      </p:sp>
      <p:sp>
        <p:nvSpPr>
          <p:cNvPr id="24" name="layer-19"/>
          <p:cNvSpPr/>
          <p:nvPr/>
        </p:nvSpPr>
        <p:spPr>
          <a:xfrm>
            <a:off x="5045964" y="4617720"/>
            <a:ext cx="181356" cy="292608"/>
          </a:xfrm>
          <a:prstGeom prst="roundRect">
            <a:avLst>
              <a:gd name="adj" fmla="val 20168"/>
            </a:avLst>
          </a:prstGeom>
          <a:solidFill>
            <a:srgbClr val="E9A47C"/>
          </a:solidFill>
          <a:ln w="12700">
            <a:solidFill>
              <a:srgbClr val="E9A47C"/>
            </a:solidFill>
            <a:prstDash val="solid"/>
          </a:ln>
        </p:spPr>
      </p:sp>
      <p:sp>
        <p:nvSpPr>
          <p:cNvPr id="25" name="layer-20"/>
          <p:cNvSpPr/>
          <p:nvPr/>
        </p:nvSpPr>
        <p:spPr>
          <a:xfrm>
            <a:off x="5273040" y="4617720"/>
            <a:ext cx="181356" cy="292608"/>
          </a:xfrm>
          <a:prstGeom prst="roundRect">
            <a:avLst>
              <a:gd name="adj" fmla="val 20168"/>
            </a:avLst>
          </a:prstGeom>
          <a:solidFill>
            <a:srgbClr val="E9A47C"/>
          </a:solidFill>
          <a:ln w="12700">
            <a:solidFill>
              <a:srgbClr val="E9A47C"/>
            </a:solidFill>
            <a:prstDash val="solid"/>
          </a:ln>
        </p:spPr>
      </p:sp>
      <p:sp>
        <p:nvSpPr>
          <p:cNvPr id="26" name="layer-21"/>
          <p:cNvSpPr/>
          <p:nvPr/>
        </p:nvSpPr>
        <p:spPr>
          <a:xfrm>
            <a:off x="5500116" y="4617720"/>
            <a:ext cx="181356" cy="292608"/>
          </a:xfrm>
          <a:prstGeom prst="roundRect">
            <a:avLst>
              <a:gd name="adj" fmla="val 20168"/>
            </a:avLst>
          </a:prstGeom>
          <a:solidFill>
            <a:srgbClr val="E9A47C"/>
          </a:solidFill>
          <a:ln w="12700">
            <a:solidFill>
              <a:srgbClr val="E9A47C"/>
            </a:solidFill>
            <a:prstDash val="solid"/>
          </a:ln>
        </p:spPr>
      </p:sp>
      <p:sp>
        <p:nvSpPr>
          <p:cNvPr id="27" name="layer-22"/>
          <p:cNvSpPr/>
          <p:nvPr/>
        </p:nvSpPr>
        <p:spPr>
          <a:xfrm>
            <a:off x="5727192" y="4617720"/>
            <a:ext cx="181356" cy="292608"/>
          </a:xfrm>
          <a:prstGeom prst="roundRect">
            <a:avLst>
              <a:gd name="adj" fmla="val 20168"/>
            </a:avLst>
          </a:prstGeom>
          <a:solidFill>
            <a:srgbClr val="E9A47C"/>
          </a:solidFill>
          <a:ln w="12700">
            <a:solidFill>
              <a:srgbClr val="E9A47C"/>
            </a:solidFill>
            <a:prstDash val="solid"/>
          </a:ln>
        </p:spPr>
      </p:sp>
      <p:sp>
        <p:nvSpPr>
          <p:cNvPr id="28" name="layer-23"/>
          <p:cNvSpPr/>
          <p:nvPr/>
        </p:nvSpPr>
        <p:spPr>
          <a:xfrm>
            <a:off x="5954268" y="4617720"/>
            <a:ext cx="181356" cy="292608"/>
          </a:xfrm>
          <a:prstGeom prst="roundRect">
            <a:avLst>
              <a:gd name="adj" fmla="val 20168"/>
            </a:avLst>
          </a:prstGeom>
          <a:solidFill>
            <a:srgbClr val="E9A47C"/>
          </a:solidFill>
          <a:ln w="12700">
            <a:solidFill>
              <a:srgbClr val="E9A47C"/>
            </a:solidFill>
            <a:prstDash val="solid"/>
          </a:ln>
        </p:spPr>
      </p:sp>
      <p:sp>
        <p:nvSpPr>
          <p:cNvPr id="29" name="layer-24"/>
          <p:cNvSpPr/>
          <p:nvPr/>
        </p:nvSpPr>
        <p:spPr>
          <a:xfrm>
            <a:off x="6181344" y="4617720"/>
            <a:ext cx="181356" cy="292608"/>
          </a:xfrm>
          <a:prstGeom prst="roundRect">
            <a:avLst>
              <a:gd name="adj" fmla="val 20168"/>
            </a:avLst>
          </a:prstGeom>
          <a:solidFill>
            <a:srgbClr val="E9A47C"/>
          </a:solidFill>
          <a:ln w="12700">
            <a:solidFill>
              <a:srgbClr val="E9A47C"/>
            </a:solidFill>
            <a:prstDash val="solid"/>
          </a:ln>
        </p:spPr>
      </p:sp>
      <p:sp>
        <p:nvSpPr>
          <p:cNvPr id="30" name="layer-25"/>
          <p:cNvSpPr/>
          <p:nvPr/>
        </p:nvSpPr>
        <p:spPr>
          <a:xfrm>
            <a:off x="6408420" y="4617720"/>
            <a:ext cx="181356" cy="292608"/>
          </a:xfrm>
          <a:prstGeom prst="roundRect">
            <a:avLst>
              <a:gd name="adj" fmla="val 20168"/>
            </a:avLst>
          </a:prstGeom>
          <a:solidFill>
            <a:srgbClr val="E9A47C"/>
          </a:solidFill>
          <a:ln w="12700">
            <a:solidFill>
              <a:srgbClr val="E9A47C"/>
            </a:solidFill>
            <a:prstDash val="solid"/>
          </a:ln>
        </p:spPr>
      </p:sp>
      <p:sp>
        <p:nvSpPr>
          <p:cNvPr id="31" name="layer-26"/>
          <p:cNvSpPr/>
          <p:nvPr/>
        </p:nvSpPr>
        <p:spPr>
          <a:xfrm>
            <a:off x="6635496" y="4617720"/>
            <a:ext cx="181356" cy="292608"/>
          </a:xfrm>
          <a:prstGeom prst="roundRect">
            <a:avLst>
              <a:gd name="adj" fmla="val 20168"/>
            </a:avLst>
          </a:prstGeom>
          <a:solidFill>
            <a:srgbClr val="E9A47C"/>
          </a:solidFill>
          <a:ln w="12700">
            <a:solidFill>
              <a:srgbClr val="E9A47C"/>
            </a:solidFill>
            <a:prstDash val="solid"/>
          </a:ln>
        </p:spPr>
      </p:sp>
      <p:sp>
        <p:nvSpPr>
          <p:cNvPr id="32" name="layer-27"/>
          <p:cNvSpPr/>
          <p:nvPr/>
        </p:nvSpPr>
        <p:spPr>
          <a:xfrm>
            <a:off x="6862572" y="4617720"/>
            <a:ext cx="181356" cy="292608"/>
          </a:xfrm>
          <a:prstGeom prst="roundRect">
            <a:avLst>
              <a:gd name="adj" fmla="val 20168"/>
            </a:avLst>
          </a:prstGeom>
          <a:solidFill>
            <a:srgbClr val="E9A47C"/>
          </a:solidFill>
          <a:ln w="12700">
            <a:solidFill>
              <a:srgbClr val="E9A47C"/>
            </a:solidFill>
            <a:prstDash val="solid"/>
          </a:ln>
        </p:spPr>
      </p:sp>
      <p:sp>
        <p:nvSpPr>
          <p:cNvPr id="33" name="layer-28"/>
          <p:cNvSpPr/>
          <p:nvPr/>
        </p:nvSpPr>
        <p:spPr>
          <a:xfrm>
            <a:off x="7089648" y="4617720"/>
            <a:ext cx="181356" cy="292608"/>
          </a:xfrm>
          <a:prstGeom prst="roundRect">
            <a:avLst>
              <a:gd name="adj" fmla="val 20168"/>
            </a:avLst>
          </a:prstGeom>
          <a:solidFill>
            <a:srgbClr val="E9A47C"/>
          </a:solidFill>
          <a:ln w="12700">
            <a:solidFill>
              <a:srgbClr val="E9A47C"/>
            </a:solidFill>
            <a:prstDash val="solid"/>
          </a:ln>
        </p:spPr>
      </p:sp>
      <p:sp>
        <p:nvSpPr>
          <p:cNvPr id="34" name="layer-29"/>
          <p:cNvSpPr/>
          <p:nvPr/>
        </p:nvSpPr>
        <p:spPr>
          <a:xfrm>
            <a:off x="7316724" y="4617720"/>
            <a:ext cx="181356" cy="292608"/>
          </a:xfrm>
          <a:prstGeom prst="roundRect">
            <a:avLst>
              <a:gd name="adj" fmla="val 20168"/>
            </a:avLst>
          </a:prstGeom>
          <a:solidFill>
            <a:srgbClr val="E9A47C"/>
          </a:solidFill>
          <a:ln w="12700">
            <a:solidFill>
              <a:srgbClr val="E9A47C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565904" y="49834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0B590"/>
                </a:solidFill>
              </a:rPr>
              <a:t>onset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731520" y="59893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B59C"/>
                </a:solidFill>
              </a:rPr>
              <a:t>github.com/cookiesheep/univis   ·   pip install univis   ·   MetaX C500 · NVIDIA · CPU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只看最终输出，分不出「正常误差」和「算子写错」</a:t>
            </a:r>
            <a:endParaRPr lang="en-US" sz="3000" dirty="0"/>
          </a:p>
        </p:txBody>
      </p:sp>
      <p:sp>
        <p:nvSpPr>
          <p:cNvPr id="4" name="card"/>
          <p:cNvSpPr/>
          <p:nvPr/>
        </p:nvSpPr>
        <p:spPr>
          <a:xfrm>
            <a:off x="548640" y="1371600"/>
            <a:ext cx="5394960" cy="3017520"/>
          </a:xfrm>
          <a:prstGeom prst="roundRect">
            <a:avLst>
              <a:gd name="adj" fmla="val 3636"/>
            </a:avLst>
          </a:prstGeom>
          <a:solidFill>
            <a:srgbClr val="F2F6F3"/>
          </a:solidFill>
          <a:ln w="12700">
            <a:solidFill>
              <a:srgbClr val="F2F6F3"/>
            </a:solidFill>
            <a:prstDash val="solid"/>
          </a:ln>
        </p:spPr>
      </p:sp>
      <p:sp>
        <p:nvSpPr>
          <p:cNvPr id="5" name="card"/>
          <p:cNvSpPr/>
          <p:nvPr/>
        </p:nvSpPr>
        <p:spPr>
          <a:xfrm>
            <a:off x="6263640" y="1371600"/>
            <a:ext cx="5394960" cy="3017520"/>
          </a:xfrm>
          <a:prstGeom prst="roundRect">
            <a:avLst>
              <a:gd name="adj" fmla="val 3636"/>
            </a:avLst>
          </a:prstGeom>
          <a:solidFill>
            <a:srgbClr val="F2F6F3"/>
          </a:solidFill>
          <a:ln w="12700">
            <a:solidFill>
              <a:srgbClr val="F2F6F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68680" y="16459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数值栈完全正确的 bf16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19456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1"/>
                </a:solidFill>
              </a:rPr>
              <a:t>96.2%</a:t>
            </a:r>
            <a:endParaRPr lang="en-US" sz="66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4747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与参考答案的 top-1 一致率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583680" y="16459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第 17 层算子写错的 bf16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6583680" y="219456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2"/>
                </a:solidFill>
              </a:rPr>
              <a:t>96.2%</a:t>
            </a:r>
            <a:endParaRPr lang="en-US" sz="6600" dirty="0"/>
          </a:p>
        </p:txBody>
      </p:sp>
      <p:sp>
        <p:nvSpPr>
          <p:cNvPr id="11" name="Text 8"/>
          <p:cNvSpPr txBox="1"/>
          <p:nvPr/>
        </p:nvSpPr>
        <p:spPr>
          <a:xfrm>
            <a:off x="6583680" y="34747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与参考答案的 top-1 一致率：一模一样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4709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把比较深入到每一层，才能看出问题从哪里开始：</a:t>
            </a:r>
            <a:endParaRPr lang="en-US" sz="1600" dirty="0"/>
          </a:p>
        </p:txBody>
      </p:sp>
      <p:sp>
        <p:nvSpPr>
          <p:cNvPr id="13" name="layer-0"/>
          <p:cNvSpPr/>
          <p:nvPr/>
        </p:nvSpPr>
        <p:spPr>
          <a:xfrm>
            <a:off x="548640" y="5212080"/>
            <a:ext cx="312666" cy="384048"/>
          </a:xfrm>
          <a:prstGeom prst="roundRect">
            <a:avLst>
              <a:gd name="adj" fmla="val 11698"/>
            </a:avLst>
          </a:prstGeom>
          <a:solidFill>
            <a:srgbClr val="A7D3B6"/>
          </a:solidFill>
          <a:ln w="12700">
            <a:solidFill>
              <a:srgbClr val="A7D3B6"/>
            </a:solidFill>
            <a:prstDash val="solid"/>
          </a:ln>
        </p:spPr>
      </p:sp>
      <p:sp>
        <p:nvSpPr>
          <p:cNvPr id="14" name="layer-1"/>
          <p:cNvSpPr/>
          <p:nvPr/>
        </p:nvSpPr>
        <p:spPr>
          <a:xfrm>
            <a:off x="907026" y="5212080"/>
            <a:ext cx="312666" cy="384048"/>
          </a:xfrm>
          <a:prstGeom prst="roundRect">
            <a:avLst>
              <a:gd name="adj" fmla="val 11698"/>
            </a:avLst>
          </a:prstGeom>
          <a:solidFill>
            <a:srgbClr val="A7D3B6"/>
          </a:solidFill>
          <a:ln w="12700">
            <a:solidFill>
              <a:srgbClr val="A7D3B6"/>
            </a:solidFill>
            <a:prstDash val="solid"/>
          </a:ln>
        </p:spPr>
      </p:sp>
      <p:sp>
        <p:nvSpPr>
          <p:cNvPr id="15" name="layer-2"/>
          <p:cNvSpPr/>
          <p:nvPr/>
        </p:nvSpPr>
        <p:spPr>
          <a:xfrm>
            <a:off x="1265412" y="5212080"/>
            <a:ext cx="312666" cy="384048"/>
          </a:xfrm>
          <a:prstGeom prst="roundRect">
            <a:avLst>
              <a:gd name="adj" fmla="val 11698"/>
            </a:avLst>
          </a:prstGeom>
          <a:solidFill>
            <a:srgbClr val="A7D3B6"/>
          </a:solidFill>
          <a:ln w="12700">
            <a:solidFill>
              <a:srgbClr val="A7D3B6"/>
            </a:solidFill>
            <a:prstDash val="solid"/>
          </a:ln>
        </p:spPr>
      </p:sp>
      <p:sp>
        <p:nvSpPr>
          <p:cNvPr id="16" name="layer-3"/>
          <p:cNvSpPr/>
          <p:nvPr/>
        </p:nvSpPr>
        <p:spPr>
          <a:xfrm>
            <a:off x="1623797" y="5212080"/>
            <a:ext cx="312666" cy="384048"/>
          </a:xfrm>
          <a:prstGeom prst="roundRect">
            <a:avLst>
              <a:gd name="adj" fmla="val 11698"/>
            </a:avLst>
          </a:prstGeom>
          <a:solidFill>
            <a:srgbClr val="A7D3B6"/>
          </a:solidFill>
          <a:ln w="12700">
            <a:solidFill>
              <a:srgbClr val="A7D3B6"/>
            </a:solidFill>
            <a:prstDash val="solid"/>
          </a:ln>
        </p:spPr>
      </p:sp>
      <p:sp>
        <p:nvSpPr>
          <p:cNvPr id="17" name="layer-4"/>
          <p:cNvSpPr/>
          <p:nvPr/>
        </p:nvSpPr>
        <p:spPr>
          <a:xfrm>
            <a:off x="1982183" y="5212080"/>
            <a:ext cx="312666" cy="384048"/>
          </a:xfrm>
          <a:prstGeom prst="roundRect">
            <a:avLst>
              <a:gd name="adj" fmla="val 11698"/>
            </a:avLst>
          </a:prstGeom>
          <a:solidFill>
            <a:srgbClr val="A7D3B6"/>
          </a:solidFill>
          <a:ln w="12700">
            <a:solidFill>
              <a:srgbClr val="A7D3B6"/>
            </a:solidFill>
            <a:prstDash val="solid"/>
          </a:ln>
        </p:spPr>
      </p:sp>
      <p:sp>
        <p:nvSpPr>
          <p:cNvPr id="18" name="layer-5"/>
          <p:cNvSpPr/>
          <p:nvPr/>
        </p:nvSpPr>
        <p:spPr>
          <a:xfrm>
            <a:off x="2340569" y="5212080"/>
            <a:ext cx="312666" cy="384048"/>
          </a:xfrm>
          <a:prstGeom prst="roundRect">
            <a:avLst>
              <a:gd name="adj" fmla="val 11698"/>
            </a:avLst>
          </a:prstGeom>
          <a:solidFill>
            <a:srgbClr val="A7D3B6"/>
          </a:solidFill>
          <a:ln w="12700">
            <a:solidFill>
              <a:srgbClr val="A7D3B6"/>
            </a:solidFill>
            <a:prstDash val="solid"/>
          </a:ln>
        </p:spPr>
      </p:sp>
      <p:sp>
        <p:nvSpPr>
          <p:cNvPr id="19" name="layer-6"/>
          <p:cNvSpPr/>
          <p:nvPr/>
        </p:nvSpPr>
        <p:spPr>
          <a:xfrm>
            <a:off x="2698955" y="5212080"/>
            <a:ext cx="312666" cy="384048"/>
          </a:xfrm>
          <a:prstGeom prst="roundRect">
            <a:avLst>
              <a:gd name="adj" fmla="val 11698"/>
            </a:avLst>
          </a:prstGeom>
          <a:solidFill>
            <a:srgbClr val="A7D3B6"/>
          </a:solidFill>
          <a:ln w="12700">
            <a:solidFill>
              <a:srgbClr val="A7D3B6"/>
            </a:solidFill>
            <a:prstDash val="solid"/>
          </a:ln>
        </p:spPr>
      </p:sp>
      <p:sp>
        <p:nvSpPr>
          <p:cNvPr id="20" name="layer-7"/>
          <p:cNvSpPr/>
          <p:nvPr/>
        </p:nvSpPr>
        <p:spPr>
          <a:xfrm>
            <a:off x="3057341" y="5212080"/>
            <a:ext cx="312666" cy="384048"/>
          </a:xfrm>
          <a:prstGeom prst="roundRect">
            <a:avLst>
              <a:gd name="adj" fmla="val 11698"/>
            </a:avLst>
          </a:prstGeom>
          <a:solidFill>
            <a:srgbClr val="A7D3B6"/>
          </a:solidFill>
          <a:ln w="12700">
            <a:solidFill>
              <a:srgbClr val="A7D3B6"/>
            </a:solidFill>
            <a:prstDash val="solid"/>
          </a:ln>
        </p:spPr>
      </p:sp>
      <p:sp>
        <p:nvSpPr>
          <p:cNvPr id="21" name="layer-8"/>
          <p:cNvSpPr/>
          <p:nvPr/>
        </p:nvSpPr>
        <p:spPr>
          <a:xfrm>
            <a:off x="3415726" y="5212080"/>
            <a:ext cx="312666" cy="384048"/>
          </a:xfrm>
          <a:prstGeom prst="roundRect">
            <a:avLst>
              <a:gd name="adj" fmla="val 11698"/>
            </a:avLst>
          </a:prstGeom>
          <a:solidFill>
            <a:srgbClr val="A7D3B6"/>
          </a:solidFill>
          <a:ln w="12700">
            <a:solidFill>
              <a:srgbClr val="A7D3B6"/>
            </a:solidFill>
            <a:prstDash val="solid"/>
          </a:ln>
        </p:spPr>
      </p:sp>
      <p:sp>
        <p:nvSpPr>
          <p:cNvPr id="22" name="layer-9"/>
          <p:cNvSpPr/>
          <p:nvPr/>
        </p:nvSpPr>
        <p:spPr>
          <a:xfrm>
            <a:off x="3774112" y="5212080"/>
            <a:ext cx="312666" cy="384048"/>
          </a:xfrm>
          <a:prstGeom prst="roundRect">
            <a:avLst>
              <a:gd name="adj" fmla="val 11698"/>
            </a:avLst>
          </a:prstGeom>
          <a:solidFill>
            <a:srgbClr val="A7D3B6"/>
          </a:solidFill>
          <a:ln w="12700">
            <a:solidFill>
              <a:srgbClr val="A7D3B6"/>
            </a:solidFill>
            <a:prstDash val="solid"/>
          </a:ln>
        </p:spPr>
      </p:sp>
      <p:sp>
        <p:nvSpPr>
          <p:cNvPr id="23" name="layer-10"/>
          <p:cNvSpPr/>
          <p:nvPr/>
        </p:nvSpPr>
        <p:spPr>
          <a:xfrm>
            <a:off x="4132498" y="5212080"/>
            <a:ext cx="312666" cy="384048"/>
          </a:xfrm>
          <a:prstGeom prst="roundRect">
            <a:avLst>
              <a:gd name="adj" fmla="val 11698"/>
            </a:avLst>
          </a:prstGeom>
          <a:solidFill>
            <a:srgbClr val="A7D3B6"/>
          </a:solidFill>
          <a:ln w="12700">
            <a:solidFill>
              <a:srgbClr val="A7D3B6"/>
            </a:solidFill>
            <a:prstDash val="solid"/>
          </a:ln>
        </p:spPr>
      </p:sp>
      <p:sp>
        <p:nvSpPr>
          <p:cNvPr id="24" name="layer-11"/>
          <p:cNvSpPr/>
          <p:nvPr/>
        </p:nvSpPr>
        <p:spPr>
          <a:xfrm>
            <a:off x="4490884" y="5212080"/>
            <a:ext cx="312666" cy="384048"/>
          </a:xfrm>
          <a:prstGeom prst="roundRect">
            <a:avLst>
              <a:gd name="adj" fmla="val 11698"/>
            </a:avLst>
          </a:prstGeom>
          <a:solidFill>
            <a:srgbClr val="A7D3B6"/>
          </a:solidFill>
          <a:ln w="12700">
            <a:solidFill>
              <a:srgbClr val="A7D3B6"/>
            </a:solidFill>
            <a:prstDash val="solid"/>
          </a:ln>
        </p:spPr>
      </p:sp>
      <p:sp>
        <p:nvSpPr>
          <p:cNvPr id="25" name="layer-12"/>
          <p:cNvSpPr/>
          <p:nvPr/>
        </p:nvSpPr>
        <p:spPr>
          <a:xfrm>
            <a:off x="4849270" y="5212080"/>
            <a:ext cx="312666" cy="384048"/>
          </a:xfrm>
          <a:prstGeom prst="roundRect">
            <a:avLst>
              <a:gd name="adj" fmla="val 11698"/>
            </a:avLst>
          </a:prstGeom>
          <a:solidFill>
            <a:srgbClr val="A7D3B6"/>
          </a:solidFill>
          <a:ln w="12700">
            <a:solidFill>
              <a:srgbClr val="A7D3B6"/>
            </a:solidFill>
            <a:prstDash val="solid"/>
          </a:ln>
        </p:spPr>
      </p:sp>
      <p:sp>
        <p:nvSpPr>
          <p:cNvPr id="26" name="layer-13"/>
          <p:cNvSpPr/>
          <p:nvPr/>
        </p:nvSpPr>
        <p:spPr>
          <a:xfrm>
            <a:off x="5207655" y="5212080"/>
            <a:ext cx="312666" cy="384048"/>
          </a:xfrm>
          <a:prstGeom prst="roundRect">
            <a:avLst>
              <a:gd name="adj" fmla="val 11698"/>
            </a:avLst>
          </a:prstGeom>
          <a:solidFill>
            <a:srgbClr val="A7D3B6"/>
          </a:solidFill>
          <a:ln w="12700">
            <a:solidFill>
              <a:srgbClr val="A7D3B6"/>
            </a:solidFill>
            <a:prstDash val="solid"/>
          </a:ln>
        </p:spPr>
      </p:sp>
      <p:sp>
        <p:nvSpPr>
          <p:cNvPr id="27" name="layer-14"/>
          <p:cNvSpPr/>
          <p:nvPr/>
        </p:nvSpPr>
        <p:spPr>
          <a:xfrm>
            <a:off x="5566041" y="5212080"/>
            <a:ext cx="312666" cy="384048"/>
          </a:xfrm>
          <a:prstGeom prst="roundRect">
            <a:avLst>
              <a:gd name="adj" fmla="val 11698"/>
            </a:avLst>
          </a:prstGeom>
          <a:solidFill>
            <a:srgbClr val="A7D3B6"/>
          </a:solidFill>
          <a:ln w="12700">
            <a:solidFill>
              <a:srgbClr val="A7D3B6"/>
            </a:solidFill>
            <a:prstDash val="solid"/>
          </a:ln>
        </p:spPr>
      </p:sp>
      <p:sp>
        <p:nvSpPr>
          <p:cNvPr id="28" name="layer-15"/>
          <p:cNvSpPr/>
          <p:nvPr/>
        </p:nvSpPr>
        <p:spPr>
          <a:xfrm>
            <a:off x="5924427" y="5212080"/>
            <a:ext cx="312666" cy="384048"/>
          </a:xfrm>
          <a:prstGeom prst="roundRect">
            <a:avLst>
              <a:gd name="adj" fmla="val 11698"/>
            </a:avLst>
          </a:prstGeom>
          <a:solidFill>
            <a:srgbClr val="A7D3B6"/>
          </a:solidFill>
          <a:ln w="12700">
            <a:solidFill>
              <a:srgbClr val="A7D3B6"/>
            </a:solidFill>
            <a:prstDash val="solid"/>
          </a:ln>
        </p:spPr>
      </p:sp>
      <p:sp>
        <p:nvSpPr>
          <p:cNvPr id="29" name="layer-16"/>
          <p:cNvSpPr/>
          <p:nvPr/>
        </p:nvSpPr>
        <p:spPr>
          <a:xfrm>
            <a:off x="6282813" y="5212080"/>
            <a:ext cx="312666" cy="384048"/>
          </a:xfrm>
          <a:prstGeom prst="roundRect">
            <a:avLst>
              <a:gd name="adj" fmla="val 11698"/>
            </a:avLst>
          </a:prstGeom>
          <a:solidFill>
            <a:srgbClr val="A7D3B6"/>
          </a:solidFill>
          <a:ln w="12700">
            <a:solidFill>
              <a:srgbClr val="A7D3B6"/>
            </a:solidFill>
            <a:prstDash val="solid"/>
          </a:ln>
        </p:spPr>
      </p:sp>
      <p:sp>
        <p:nvSpPr>
          <p:cNvPr id="30" name="layer-17"/>
          <p:cNvSpPr/>
          <p:nvPr/>
        </p:nvSpPr>
        <p:spPr>
          <a:xfrm>
            <a:off x="6641199" y="5212080"/>
            <a:ext cx="312666" cy="384048"/>
          </a:xfrm>
          <a:prstGeom prst="roundRect">
            <a:avLst>
              <a:gd name="adj" fmla="val 11698"/>
            </a:avLst>
          </a:prstGeom>
          <a:solidFill>
            <a:srgbClr val="A7D3B6"/>
          </a:solidFill>
          <a:ln w="12700">
            <a:solidFill>
              <a:srgbClr val="A7D3B6"/>
            </a:solidFill>
            <a:prstDash val="solid"/>
          </a:ln>
        </p:spPr>
      </p:sp>
      <p:sp>
        <p:nvSpPr>
          <p:cNvPr id="31" name="layer-18"/>
          <p:cNvSpPr/>
          <p:nvPr/>
        </p:nvSpPr>
        <p:spPr>
          <a:xfrm>
            <a:off x="6999585" y="5212080"/>
            <a:ext cx="312666" cy="384048"/>
          </a:xfrm>
          <a:prstGeom prst="roundRect">
            <a:avLst>
              <a:gd name="adj" fmla="val 11698"/>
            </a:avLst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32" name="layer-19"/>
          <p:cNvSpPr/>
          <p:nvPr/>
        </p:nvSpPr>
        <p:spPr>
          <a:xfrm>
            <a:off x="7357970" y="5212080"/>
            <a:ext cx="312666" cy="384048"/>
          </a:xfrm>
          <a:prstGeom prst="roundRect">
            <a:avLst>
              <a:gd name="adj" fmla="val 11698"/>
            </a:avLst>
          </a:prstGeom>
          <a:solidFill>
            <a:srgbClr val="E9A47C"/>
          </a:solidFill>
          <a:ln w="12700">
            <a:solidFill>
              <a:srgbClr val="E9A47C"/>
            </a:solidFill>
            <a:prstDash val="solid"/>
          </a:ln>
        </p:spPr>
      </p:sp>
      <p:sp>
        <p:nvSpPr>
          <p:cNvPr id="33" name="layer-20"/>
          <p:cNvSpPr/>
          <p:nvPr/>
        </p:nvSpPr>
        <p:spPr>
          <a:xfrm>
            <a:off x="7716356" y="5212080"/>
            <a:ext cx="312666" cy="384048"/>
          </a:xfrm>
          <a:prstGeom prst="roundRect">
            <a:avLst>
              <a:gd name="adj" fmla="val 11698"/>
            </a:avLst>
          </a:prstGeom>
          <a:solidFill>
            <a:srgbClr val="E9A47C"/>
          </a:solidFill>
          <a:ln w="12700">
            <a:solidFill>
              <a:srgbClr val="E9A47C"/>
            </a:solidFill>
            <a:prstDash val="solid"/>
          </a:ln>
        </p:spPr>
      </p:sp>
      <p:sp>
        <p:nvSpPr>
          <p:cNvPr id="34" name="layer-21"/>
          <p:cNvSpPr/>
          <p:nvPr/>
        </p:nvSpPr>
        <p:spPr>
          <a:xfrm>
            <a:off x="8074742" y="5212080"/>
            <a:ext cx="312666" cy="384048"/>
          </a:xfrm>
          <a:prstGeom prst="roundRect">
            <a:avLst>
              <a:gd name="adj" fmla="val 11698"/>
            </a:avLst>
          </a:prstGeom>
          <a:solidFill>
            <a:srgbClr val="E9A47C"/>
          </a:solidFill>
          <a:ln w="12700">
            <a:solidFill>
              <a:srgbClr val="E9A47C"/>
            </a:solidFill>
            <a:prstDash val="solid"/>
          </a:ln>
        </p:spPr>
      </p:sp>
      <p:sp>
        <p:nvSpPr>
          <p:cNvPr id="35" name="layer-22"/>
          <p:cNvSpPr/>
          <p:nvPr/>
        </p:nvSpPr>
        <p:spPr>
          <a:xfrm>
            <a:off x="8433128" y="5212080"/>
            <a:ext cx="312666" cy="384048"/>
          </a:xfrm>
          <a:prstGeom prst="roundRect">
            <a:avLst>
              <a:gd name="adj" fmla="val 11698"/>
            </a:avLst>
          </a:prstGeom>
          <a:solidFill>
            <a:srgbClr val="E9A47C"/>
          </a:solidFill>
          <a:ln w="12700">
            <a:solidFill>
              <a:srgbClr val="E9A47C"/>
            </a:solidFill>
            <a:prstDash val="solid"/>
          </a:ln>
        </p:spPr>
      </p:sp>
      <p:sp>
        <p:nvSpPr>
          <p:cNvPr id="36" name="layer-23"/>
          <p:cNvSpPr/>
          <p:nvPr/>
        </p:nvSpPr>
        <p:spPr>
          <a:xfrm>
            <a:off x="8791514" y="5212080"/>
            <a:ext cx="312666" cy="384048"/>
          </a:xfrm>
          <a:prstGeom prst="roundRect">
            <a:avLst>
              <a:gd name="adj" fmla="val 11698"/>
            </a:avLst>
          </a:prstGeom>
          <a:solidFill>
            <a:srgbClr val="E9A47C"/>
          </a:solidFill>
          <a:ln w="12700">
            <a:solidFill>
              <a:srgbClr val="E9A47C"/>
            </a:solidFill>
            <a:prstDash val="solid"/>
          </a:ln>
        </p:spPr>
      </p:sp>
      <p:sp>
        <p:nvSpPr>
          <p:cNvPr id="37" name="layer-24"/>
          <p:cNvSpPr/>
          <p:nvPr/>
        </p:nvSpPr>
        <p:spPr>
          <a:xfrm>
            <a:off x="9149899" y="5212080"/>
            <a:ext cx="312666" cy="384048"/>
          </a:xfrm>
          <a:prstGeom prst="roundRect">
            <a:avLst>
              <a:gd name="adj" fmla="val 11698"/>
            </a:avLst>
          </a:prstGeom>
          <a:solidFill>
            <a:srgbClr val="E9A47C"/>
          </a:solidFill>
          <a:ln w="12700">
            <a:solidFill>
              <a:srgbClr val="E9A47C"/>
            </a:solidFill>
            <a:prstDash val="solid"/>
          </a:ln>
        </p:spPr>
      </p:sp>
      <p:sp>
        <p:nvSpPr>
          <p:cNvPr id="38" name="layer-25"/>
          <p:cNvSpPr/>
          <p:nvPr/>
        </p:nvSpPr>
        <p:spPr>
          <a:xfrm>
            <a:off x="9508285" y="5212080"/>
            <a:ext cx="312666" cy="384048"/>
          </a:xfrm>
          <a:prstGeom prst="roundRect">
            <a:avLst>
              <a:gd name="adj" fmla="val 11698"/>
            </a:avLst>
          </a:prstGeom>
          <a:solidFill>
            <a:srgbClr val="E9A47C"/>
          </a:solidFill>
          <a:ln w="12700">
            <a:solidFill>
              <a:srgbClr val="E9A47C"/>
            </a:solidFill>
            <a:prstDash val="solid"/>
          </a:ln>
        </p:spPr>
      </p:sp>
      <p:sp>
        <p:nvSpPr>
          <p:cNvPr id="39" name="layer-26"/>
          <p:cNvSpPr/>
          <p:nvPr/>
        </p:nvSpPr>
        <p:spPr>
          <a:xfrm>
            <a:off x="9866671" y="5212080"/>
            <a:ext cx="312666" cy="384048"/>
          </a:xfrm>
          <a:prstGeom prst="roundRect">
            <a:avLst>
              <a:gd name="adj" fmla="val 11698"/>
            </a:avLst>
          </a:prstGeom>
          <a:solidFill>
            <a:srgbClr val="E9A47C"/>
          </a:solidFill>
          <a:ln w="12700">
            <a:solidFill>
              <a:srgbClr val="E9A47C"/>
            </a:solidFill>
            <a:prstDash val="solid"/>
          </a:ln>
        </p:spPr>
      </p:sp>
      <p:sp>
        <p:nvSpPr>
          <p:cNvPr id="40" name="layer-27"/>
          <p:cNvSpPr/>
          <p:nvPr/>
        </p:nvSpPr>
        <p:spPr>
          <a:xfrm>
            <a:off x="10225057" y="5212080"/>
            <a:ext cx="312666" cy="384048"/>
          </a:xfrm>
          <a:prstGeom prst="roundRect">
            <a:avLst>
              <a:gd name="adj" fmla="val 11698"/>
            </a:avLst>
          </a:prstGeom>
          <a:solidFill>
            <a:srgbClr val="E9A47C"/>
          </a:solidFill>
          <a:ln w="12700">
            <a:solidFill>
              <a:srgbClr val="E9A47C"/>
            </a:solidFill>
            <a:prstDash val="solid"/>
          </a:ln>
        </p:spPr>
      </p:sp>
      <p:sp>
        <p:nvSpPr>
          <p:cNvPr id="41" name="layer-28"/>
          <p:cNvSpPr/>
          <p:nvPr/>
        </p:nvSpPr>
        <p:spPr>
          <a:xfrm>
            <a:off x="10583443" y="5212080"/>
            <a:ext cx="312666" cy="384048"/>
          </a:xfrm>
          <a:prstGeom prst="roundRect">
            <a:avLst>
              <a:gd name="adj" fmla="val 11698"/>
            </a:avLst>
          </a:prstGeom>
          <a:solidFill>
            <a:srgbClr val="E9A47C"/>
          </a:solidFill>
          <a:ln w="12700">
            <a:solidFill>
              <a:srgbClr val="E9A47C"/>
            </a:solidFill>
            <a:prstDash val="solid"/>
          </a:ln>
        </p:spPr>
      </p:sp>
      <p:sp>
        <p:nvSpPr>
          <p:cNvPr id="42" name="layer-29"/>
          <p:cNvSpPr/>
          <p:nvPr/>
        </p:nvSpPr>
        <p:spPr>
          <a:xfrm>
            <a:off x="10941828" y="5212080"/>
            <a:ext cx="312666" cy="384048"/>
          </a:xfrm>
          <a:prstGeom prst="roundRect">
            <a:avLst>
              <a:gd name="adj" fmla="val 11698"/>
            </a:avLst>
          </a:prstGeom>
          <a:solidFill>
            <a:srgbClr val="E9A47C"/>
          </a:solidFill>
          <a:ln w="12700">
            <a:solidFill>
              <a:srgbClr val="E9A47C"/>
            </a:solidFill>
            <a:prstDash val="solid"/>
          </a:ln>
        </p:spPr>
      </p:sp>
      <p:sp>
        <p:nvSpPr>
          <p:cNvPr id="43" name="layer-30"/>
          <p:cNvSpPr/>
          <p:nvPr/>
        </p:nvSpPr>
        <p:spPr>
          <a:xfrm>
            <a:off x="11300214" y="5212080"/>
            <a:ext cx="312666" cy="384048"/>
          </a:xfrm>
          <a:prstGeom prst="roundRect">
            <a:avLst>
              <a:gd name="adj" fmla="val 11698"/>
            </a:avLst>
          </a:prstGeom>
          <a:solidFill>
            <a:srgbClr val="E9A47C"/>
          </a:solidFill>
          <a:ln w="12700">
            <a:solidFill>
              <a:srgbClr val="E9A47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548640" y="57150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绿色：在正常 bf16 误差内　　橙色：block 17 的 MLP 输出开始超出 3.3 倍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UniVis 怎么做：四步，全部在 forward hook 里完成</a:t>
            </a:r>
            <a:endParaRPr lang="en-US" sz="3000" dirty="0"/>
          </a:p>
        </p:txBody>
      </p:sp>
      <p:sp>
        <p:nvSpPr>
          <p:cNvPr id="4" name="card"/>
          <p:cNvSpPr/>
          <p:nvPr/>
        </p:nvSpPr>
        <p:spPr>
          <a:xfrm>
            <a:off x="548640" y="1417320"/>
            <a:ext cx="2606040" cy="3566160"/>
          </a:xfrm>
          <a:prstGeom prst="roundRect">
            <a:avLst>
              <a:gd name="adj" fmla="val 4211"/>
            </a:avLst>
          </a:prstGeom>
          <a:solidFill>
            <a:srgbClr val="F2F6F3"/>
          </a:solidFill>
          <a:ln w="12700">
            <a:solidFill>
              <a:srgbClr val="F2F6F3"/>
            </a:solidFill>
            <a:prstDash val="solid"/>
          </a:ln>
        </p:spPr>
      </p:sp>
      <p:sp>
        <p:nvSpPr>
          <p:cNvPr id="5" name="step-dot"/>
          <p:cNvSpPr/>
          <p:nvPr/>
        </p:nvSpPr>
        <p:spPr>
          <a:xfrm>
            <a:off x="822960" y="1691640"/>
            <a:ext cx="640080" cy="640080"/>
          </a:xfrm>
          <a:prstGeom prst="ellipse">
            <a:avLst/>
          </a:prstGeom>
          <a:solidFill>
            <a:srgbClr val="3B915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5603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Teacher forcing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108960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两端喂同一段 token，一次前向跑完，逐位置严格对齐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3364992" y="1417320"/>
            <a:ext cx="2606040" cy="3566160"/>
          </a:xfrm>
          <a:prstGeom prst="roundRect">
            <a:avLst>
              <a:gd name="adj" fmla="val 4211"/>
            </a:avLst>
          </a:prstGeom>
          <a:solidFill>
            <a:srgbClr val="F2F6F3"/>
          </a:solidFill>
          <a:ln w="12700">
            <a:solidFill>
              <a:srgbClr val="F2F6F3"/>
            </a:solidFill>
            <a:prstDash val="solid"/>
          </a:ln>
        </p:spPr>
      </p:sp>
      <p:sp>
        <p:nvSpPr>
          <p:cNvPr id="10" name="step-dot"/>
          <p:cNvSpPr/>
          <p:nvPr/>
        </p:nvSpPr>
        <p:spPr>
          <a:xfrm>
            <a:off x="3639312" y="1691640"/>
            <a:ext cx="640080" cy="640080"/>
          </a:xfrm>
          <a:prstGeom prst="ellipse">
            <a:avLst/>
          </a:prstGeom>
          <a:solidFill>
            <a:srgbClr val="3B915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39312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2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3639312" y="25603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端侧草图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3639312" y="3108960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每层出口投影到 64 维，P(a)−P(b)=P(a−b)，几 MB 指纹可跨机器比对</a:t>
            </a:r>
            <a:endParaRPr lang="en-US" sz="1400" dirty="0"/>
          </a:p>
        </p:txBody>
      </p:sp>
      <p:sp>
        <p:nvSpPr>
          <p:cNvPr id="14" name="card"/>
          <p:cNvSpPr/>
          <p:nvPr/>
        </p:nvSpPr>
        <p:spPr>
          <a:xfrm>
            <a:off x="6181344" y="1417320"/>
            <a:ext cx="2606040" cy="3566160"/>
          </a:xfrm>
          <a:prstGeom prst="roundRect">
            <a:avLst>
              <a:gd name="adj" fmla="val 4211"/>
            </a:avLst>
          </a:prstGeom>
          <a:solidFill>
            <a:srgbClr val="F2F6F3"/>
          </a:solidFill>
          <a:ln w="12700">
            <a:solidFill>
              <a:srgbClr val="F2F6F3"/>
            </a:solidFill>
            <a:prstDash val="solid"/>
          </a:ln>
        </p:spPr>
      </p:sp>
      <p:sp>
        <p:nvSpPr>
          <p:cNvPr id="15" name="step-dot"/>
          <p:cNvSpPr/>
          <p:nvPr/>
        </p:nvSpPr>
        <p:spPr>
          <a:xfrm>
            <a:off x="6455664" y="1691640"/>
            <a:ext cx="640080" cy="640080"/>
          </a:xfrm>
          <a:prstGeom prst="ellipse">
            <a:avLst/>
          </a:prstGeom>
          <a:solidFill>
            <a:srgbClr val="3B915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55664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3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6455664" y="25603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容差基线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6455664" y="3108960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以已知正常的同精度实现与参考的误差，作为该精度的「正常误差」</a:t>
            </a:r>
            <a:endParaRPr lang="en-US" sz="1400" dirty="0"/>
          </a:p>
        </p:txBody>
      </p:sp>
      <p:sp>
        <p:nvSpPr>
          <p:cNvPr id="19" name="card"/>
          <p:cNvSpPr/>
          <p:nvPr/>
        </p:nvSpPr>
        <p:spPr>
          <a:xfrm>
            <a:off x="8997696" y="1417320"/>
            <a:ext cx="2606040" cy="3566160"/>
          </a:xfrm>
          <a:prstGeom prst="roundRect">
            <a:avLst>
              <a:gd name="adj" fmla="val 4211"/>
            </a:avLst>
          </a:prstGeom>
          <a:solidFill>
            <a:srgbClr val="F2F6F3"/>
          </a:solidFill>
          <a:ln w="12700">
            <a:solidFill>
              <a:srgbClr val="F2F6F3"/>
            </a:solidFill>
            <a:prstDash val="solid"/>
          </a:ln>
        </p:spPr>
      </p:sp>
      <p:sp>
        <p:nvSpPr>
          <p:cNvPr id="20" name="step-dot"/>
          <p:cNvSpPr/>
          <p:nvPr/>
        </p:nvSpPr>
        <p:spPr>
          <a:xfrm>
            <a:off x="9272016" y="1691640"/>
            <a:ext cx="640080" cy="640080"/>
          </a:xfrm>
          <a:prstGeom prst="ellipse">
            <a:avLst/>
          </a:prstGeom>
          <a:solidFill>
            <a:srgbClr val="C2410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72016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4</a:t>
            </a:r>
            <a:endParaRPr lang="en-US" sz="2200" dirty="0"/>
          </a:p>
        </p:txBody>
      </p:sp>
      <p:sp>
        <p:nvSpPr>
          <p:cNvPr id="22" name="Text 19"/>
          <p:cNvSpPr txBox="1"/>
          <p:nvPr/>
        </p:nvSpPr>
        <p:spPr>
          <a:xfrm>
            <a:off x="9272016" y="25603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三态判定</a:t>
            </a:r>
            <a:endParaRPr lang="en-US" sz="1900" dirty="0"/>
          </a:p>
        </p:txBody>
      </p:sp>
      <p:sp>
        <p:nvSpPr>
          <p:cNvPr id="23" name="Text 20"/>
          <p:cNvSpPr txBox="1"/>
          <p:nvPr/>
        </p:nvSpPr>
        <p:spPr>
          <a:xfrm>
            <a:off x="9272016" y="3108960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PASS / DIVERGE（起点层 + attention 或 MLP）/ UNKNOWN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53492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结果：一份自包含 HTML 报告 + 退出码（0 一致 / 1 分叉 / 3 无法判定），可直接放进 CI 做回归检查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一行命令，30 秒在 CPU 上看到结果</a:t>
            </a:r>
            <a:endParaRPr lang="en-US" sz="3000" dirty="0"/>
          </a:p>
        </p:txBody>
      </p:sp>
      <p:sp>
        <p:nvSpPr>
          <p:cNvPr id="4" name="card"/>
          <p:cNvSpPr/>
          <p:nvPr/>
        </p:nvSpPr>
        <p:spPr>
          <a:xfrm>
            <a:off x="548640" y="1417320"/>
            <a:ext cx="4297680" cy="4480560"/>
          </a:xfrm>
          <a:prstGeom prst="roundRect">
            <a:avLst>
              <a:gd name="adj" fmla="val 2553"/>
            </a:avLst>
          </a:prstGeom>
          <a:solidFill>
            <a:srgbClr val="1F2328"/>
          </a:solidFill>
          <a:ln w="12700">
            <a:solidFill>
              <a:srgbClr val="1F232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68680" y="1737360"/>
            <a:ext cx="37490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pip install "univis[hf]"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univis diff demo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correct bf16 : top-1 96.2%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broken  bf16 : top-1 96.2%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0B5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DIVERGE at block 17,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0B5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MLP output (3.3x)</a:t>
            </a:r>
            <a:endParaRPr lang="en-US" sz="1600" dirty="0"/>
          </a:p>
        </p:txBody>
      </p:sp>
      <p:pic>
        <p:nvPicPr>
          <p:cNvPr id="6" name="Image 0" descr="univis diff 报告截图：第 17 层 MLP 开始分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66360" y="1417320"/>
            <a:ext cx="6446520" cy="43342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166360" y="58521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自包含 HTML 报告：判定、分叉起点、子层、逐层误差曲线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故障注入：每一个明显写错的算子都被定位到正确的层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371600"/>
          <a:ext cx="694944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card"/>
          <p:cNvSpPr/>
          <p:nvPr/>
        </p:nvSpPr>
        <p:spPr>
          <a:xfrm>
            <a:off x="7863840" y="1371600"/>
            <a:ext cx="3749040" cy="2103120"/>
          </a:xfrm>
          <a:prstGeom prst="roundRect">
            <a:avLst>
              <a:gd name="adj" fmla="val 5217"/>
            </a:avLst>
          </a:prstGeom>
          <a:solidFill>
            <a:srgbClr val="F2F6F3"/>
          </a:solidFill>
          <a:ln w="12700">
            <a:solidFill>
              <a:srgbClr val="F2F6F3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8183880" y="160020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5 / 5</a:t>
            </a:r>
            <a:endParaRPr lang="en-US" sz="4400" dirty="0"/>
          </a:p>
        </p:txBody>
      </p:sp>
      <p:sp>
        <p:nvSpPr>
          <p:cNvPr id="7" name="Text 3"/>
          <p:cNvSpPr txBox="1"/>
          <p:nvPr/>
        </p:nvSpPr>
        <p:spPr>
          <a:xfrm>
            <a:off x="8183880" y="246888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明显写错的算子全部定位到正确的层和子层（attention / MLP）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7863840" y="3703320"/>
            <a:ext cx="3749040" cy="2240280"/>
          </a:xfrm>
          <a:prstGeom prst="roundRect">
            <a:avLst>
              <a:gd name="adj" fmla="val 4898"/>
            </a:avLst>
          </a:prstGeom>
          <a:solidFill>
            <a:srgbClr val="F2F6F3"/>
          </a:solidFill>
          <a:ln w="12700">
            <a:solidFill>
              <a:srgbClr val="F2F6F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183880" y="39319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如实标出的边界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8183880" y="4389120"/>
            <a:ext cx="3200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3% 的细微偏差被 bf16 噪声淹没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深层 20% 偏差为 2.84×，阈值调到 2.5 可检出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沐曦曦云 C500 真机：三个规模，每一层都在正常 bf16 误差内</a:t>
            </a:r>
            <a:endParaRPr lang="en-US" sz="3000" dirty="0"/>
          </a:p>
        </p:txBody>
      </p:sp>
      <p:pic>
        <p:nvPicPr>
          <p:cNvPr id="4" name="Image 0" descr="C500 对 RTX 5090 逐层误差倍数折线图，全部低于 3 倍阈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680960" cy="3803904"/>
          </a:xfrm>
          <a:prstGeom prst="rect">
            <a:avLst/>
          </a:prstGeom>
        </p:spPr>
      </p:pic>
      <p:sp>
        <p:nvSpPr>
          <p:cNvPr id="5" name="card"/>
          <p:cNvSpPr/>
          <p:nvPr/>
        </p:nvSpPr>
        <p:spPr>
          <a:xfrm>
            <a:off x="8549640" y="1325880"/>
            <a:ext cx="3063240" cy="1143000"/>
          </a:xfrm>
          <a:prstGeom prst="roundRect">
            <a:avLst>
              <a:gd name="adj" fmla="val 9600"/>
            </a:avLst>
          </a:prstGeom>
          <a:solidFill>
            <a:srgbClr val="F2F6F3"/>
          </a:solidFill>
          <a:ln w="12700">
            <a:solidFill>
              <a:srgbClr val="F2F6F3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8778240" y="14173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3 / 3</a:t>
            </a:r>
            <a:endParaRPr lang="en-US" sz="2800" dirty="0"/>
          </a:p>
        </p:txBody>
      </p:sp>
      <p:sp>
        <p:nvSpPr>
          <p:cNvPr id="7" name="Text 3"/>
          <p:cNvSpPr txBox="1"/>
          <p:nvPr/>
        </p:nvSpPr>
        <p:spPr>
          <a:xfrm>
            <a:off x="8778240" y="19659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Qwen2.5 0.5B / 3B / 7B 全部 PASS</a:t>
            </a:r>
            <a:endParaRPr lang="en-US" sz="1250" dirty="0"/>
          </a:p>
        </p:txBody>
      </p:sp>
      <p:sp>
        <p:nvSpPr>
          <p:cNvPr id="8" name="card"/>
          <p:cNvSpPr/>
          <p:nvPr/>
        </p:nvSpPr>
        <p:spPr>
          <a:xfrm>
            <a:off x="8549640" y="2651760"/>
            <a:ext cx="3063240" cy="1143000"/>
          </a:xfrm>
          <a:prstGeom prst="roundRect">
            <a:avLst>
              <a:gd name="adj" fmla="val 9600"/>
            </a:avLst>
          </a:prstGeom>
          <a:solidFill>
            <a:srgbClr val="F2F6F3"/>
          </a:solidFill>
          <a:ln w="12700">
            <a:solidFill>
              <a:srgbClr val="F2F6F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778240" y="27432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≤ 1.35×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8778240" y="32918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每层误差相对 NVIDIA bf16 的最大倍数</a:t>
            </a:r>
            <a:endParaRPr lang="en-US" sz="1250" dirty="0"/>
          </a:p>
        </p:txBody>
      </p:sp>
      <p:sp>
        <p:nvSpPr>
          <p:cNvPr id="11" name="card"/>
          <p:cNvSpPr/>
          <p:nvPr/>
        </p:nvSpPr>
        <p:spPr>
          <a:xfrm>
            <a:off x="8549640" y="3977640"/>
            <a:ext cx="3063240" cy="1143000"/>
          </a:xfrm>
          <a:prstGeom prst="roundRect">
            <a:avLst>
              <a:gd name="adj" fmla="val 9600"/>
            </a:avLst>
          </a:prstGeom>
          <a:solidFill>
            <a:srgbClr val="F2F6F3"/>
          </a:solidFill>
          <a:ln w="12700">
            <a:solidFill>
              <a:srgbClr val="F2F6F3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778240" y="40690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1024</a:t>
            </a:r>
            <a:endParaRPr lang="en-US" sz="2800" dirty="0"/>
          </a:p>
        </p:txBody>
      </p:sp>
      <p:sp>
        <p:nvSpPr>
          <p:cNvPr id="13" name="Text 9"/>
          <p:cNvSpPr txBox="1"/>
          <p:nvPr/>
        </p:nvSpPr>
        <p:spPr>
          <a:xfrm>
            <a:off x="8778240" y="4617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token 长序列与沐曦 flash-attn 同样 PASS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53949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C500：MACA 3.3.0.15 · torch 2.8.0+metax3.3.0.2　　RTX 5090：torch 2.14.1+cu130　　结论只覆盖所测模型、输入与软件栈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换上沐曦自带的 flash-attention：精度不变，速度快约 1.5 倍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371600"/>
          <a:ext cx="694944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card"/>
          <p:cNvSpPr/>
          <p:nvPr/>
        </p:nvSpPr>
        <p:spPr>
          <a:xfrm>
            <a:off x="7863840" y="1371600"/>
            <a:ext cx="3749040" cy="2103120"/>
          </a:xfrm>
          <a:prstGeom prst="roundRect">
            <a:avLst>
              <a:gd name="adj" fmla="val 5217"/>
            </a:avLst>
          </a:prstGeom>
          <a:solidFill>
            <a:srgbClr val="F2F6F3"/>
          </a:solidFill>
          <a:ln w="12700">
            <a:solidFill>
              <a:srgbClr val="F2F6F3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8183880" y="160020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3"/>
                </a:solidFill>
              </a:rPr>
              <a:t>1.47×</a:t>
            </a:r>
            <a:endParaRPr lang="en-US" sz="4400" dirty="0"/>
          </a:p>
        </p:txBody>
      </p:sp>
      <p:sp>
        <p:nvSpPr>
          <p:cNvPr id="7" name="Text 3"/>
          <p:cNvSpPr txBox="1"/>
          <p:nvPr/>
        </p:nvSpPr>
        <p:spPr>
          <a:xfrm>
            <a:off x="8183880" y="25146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3B 模型：109 ms → 74 ms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7863840" y="3703320"/>
            <a:ext cx="3749040" cy="2240280"/>
          </a:xfrm>
          <a:prstGeom prst="roundRect">
            <a:avLst>
              <a:gd name="adj" fmla="val 4898"/>
            </a:avLst>
          </a:prstGeom>
          <a:solidFill>
            <a:srgbClr val="F2F6F3"/>
          </a:solidFill>
          <a:ln w="12700">
            <a:solidFill>
              <a:srgbClr val="F2F6F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183880" y="393192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PASS</a:t>
            </a:r>
            <a:endParaRPr lang="en-US" sz="3400" dirty="0"/>
          </a:p>
        </p:txBody>
      </p:sp>
      <p:sp>
        <p:nvSpPr>
          <p:cNvPr id="10" name="Text 6"/>
          <p:cNvSpPr txBox="1"/>
          <p:nvPr/>
        </p:nvSpPr>
        <p:spPr>
          <a:xfrm>
            <a:off x="8183880" y="466344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换算子后逐层精度仍在容差内（0.5B、3B，3 × 1024 token）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发现：C500 镜像里的「fp32」默认按 TF32 计算</a:t>
            </a:r>
            <a:endParaRPr lang="en-US" sz="3000" dirty="0"/>
          </a:p>
        </p:txBody>
      </p:sp>
      <p:sp>
        <p:nvSpPr>
          <p:cNvPr id="4" name="card"/>
          <p:cNvSpPr/>
          <p:nvPr/>
        </p:nvSpPr>
        <p:spPr>
          <a:xfrm>
            <a:off x="548640" y="1417320"/>
            <a:ext cx="5394960" cy="4480560"/>
          </a:xfrm>
          <a:prstGeom prst="roundRect">
            <a:avLst>
              <a:gd name="adj" fmla="val 2449"/>
            </a:avLst>
          </a:prstGeom>
          <a:solidFill>
            <a:srgbClr val="F2F6F3"/>
          </a:solidFill>
          <a:ln w="12700">
            <a:solidFill>
              <a:srgbClr val="F2F6F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68680" y="169164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2"/>
                </a:solidFill>
              </a:rPr>
              <a:t>290×</a:t>
            </a:r>
            <a:endParaRPr lang="en-US" sz="8000" dirty="0"/>
          </a:p>
        </p:txBody>
      </p:sp>
      <p:sp>
        <p:nvSpPr>
          <p:cNvPr id="6" name="Text 3"/>
          <p:cNvSpPr txBox="1"/>
          <p:nvPr/>
        </p:nvSpPr>
        <p:spPr>
          <a:xfrm>
            <a:off x="868680" y="30175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默认 TF32 相对严格 fp32 的误差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61188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默认（TF32 开启）：末层相对误差 1.66e-3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关闭 TF32：5.7e-6，与 CPU / NVIDIA fp32 几乎一致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NVIDIA 上 PyTorch 默认关闭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6263640" y="1417320"/>
            <a:ext cx="5349240" cy="4480560"/>
          </a:xfrm>
          <a:prstGeom prst="roundRect">
            <a:avLst>
              <a:gd name="adj" fmla="val 2449"/>
            </a:avLst>
          </a:prstGeom>
          <a:solidFill>
            <a:srgbClr val="1F2328"/>
          </a:solidFill>
          <a:ln w="12700">
            <a:solidFill>
              <a:srgbClr val="1F232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83680" y="1691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5E7EB"/>
                </a:solidFill>
              </a:rPr>
              <a:t>需要严格 fp32 时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6583680" y="228600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7D3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TORCH_ALLOW_TF32_CUBLAS_OVERRIDE=0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A7D3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A7D3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torch.backends.cuda.matmul.allow_tf32 = False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A7D3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torch.backends.cudnn.allow_tf32 = False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6583680" y="443484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</a:rPr>
              <a:t>沐曦 MXMACA 发布说明的「已知问题」中也提到了该变量；UniVis 把它的影响量化到了每一层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严谨性：一次假警报，我们用阳性对照查清了原因</a:t>
            </a:r>
            <a:endParaRPr lang="en-US" sz="3000" dirty="0"/>
          </a:p>
        </p:txBody>
      </p:sp>
      <p:sp>
        <p:nvSpPr>
          <p:cNvPr id="4" name="card"/>
          <p:cNvSpPr/>
          <p:nvPr/>
        </p:nvSpPr>
        <p:spPr>
          <a:xfrm>
            <a:off x="548640" y="1417320"/>
            <a:ext cx="3520440" cy="3017520"/>
          </a:xfrm>
          <a:prstGeom prst="roundRect">
            <a:avLst>
              <a:gd name="adj" fmla="val 3636"/>
            </a:avLst>
          </a:prstGeom>
          <a:solidFill>
            <a:srgbClr val="F2F6F3"/>
          </a:solidFill>
          <a:ln w="12700">
            <a:solidFill>
              <a:srgbClr val="F2F6F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68680" y="16916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2410C"/>
                </a:solidFill>
              </a:rPr>
              <a:t>DIVERGE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868680" y="224028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C2410C"/>
                </a:solidFill>
              </a:rPr>
              <a:t>3.00×</a:t>
            </a:r>
            <a:endParaRPr lang="en-US" sz="5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42900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C500 eager 对 5090 sdpa 基线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4297680" y="1417320"/>
            <a:ext cx="3520440" cy="3017520"/>
          </a:xfrm>
          <a:prstGeom prst="roundRect">
            <a:avLst>
              <a:gd name="adj" fmla="val 3636"/>
            </a:avLst>
          </a:prstGeom>
          <a:solidFill>
            <a:srgbClr val="F2F6F3"/>
          </a:solidFill>
          <a:ln w="12700">
            <a:solidFill>
              <a:srgbClr val="F2F6F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617720" y="16916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B915D"/>
                </a:solidFill>
              </a:rPr>
              <a:t>PASS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4617720" y="224028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3B915D"/>
                </a:solidFill>
              </a:rPr>
              <a:t>1.02×</a:t>
            </a:r>
            <a:endParaRPr lang="en-US" sz="5200" dirty="0"/>
          </a:p>
        </p:txBody>
      </p:sp>
      <p:sp>
        <p:nvSpPr>
          <p:cNvPr id="11" name="Text 8"/>
          <p:cNvSpPr txBox="1"/>
          <p:nvPr/>
        </p:nvSpPr>
        <p:spPr>
          <a:xfrm>
            <a:off x="4617720" y="342900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C500 eager 对 5090 eager 基线</a:t>
            </a:r>
            <a:endParaRPr lang="en-US" sz="1400" dirty="0"/>
          </a:p>
        </p:txBody>
      </p:sp>
      <p:sp>
        <p:nvSpPr>
          <p:cNvPr id="12" name="card"/>
          <p:cNvSpPr/>
          <p:nvPr/>
        </p:nvSpPr>
        <p:spPr>
          <a:xfrm>
            <a:off x="8046720" y="1417320"/>
            <a:ext cx="3520440" cy="3017520"/>
          </a:xfrm>
          <a:prstGeom prst="roundRect">
            <a:avLst>
              <a:gd name="adj" fmla="val 3636"/>
            </a:avLst>
          </a:prstGeom>
          <a:solidFill>
            <a:srgbClr val="F2F6F3"/>
          </a:solidFill>
          <a:ln w="12700">
            <a:solidFill>
              <a:srgbClr val="F2F6F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66760" y="16916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6B7280"/>
                </a:solidFill>
              </a:rPr>
              <a:t>对照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8366760" y="224028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6B7280"/>
                </a:solidFill>
              </a:rPr>
              <a:t>2.95×</a:t>
            </a:r>
            <a:endParaRPr lang="en-US" sz="5200" dirty="0"/>
          </a:p>
        </p:txBody>
      </p:sp>
      <p:sp>
        <p:nvSpPr>
          <p:cNvPr id="15" name="Text 12"/>
          <p:cNvSpPr txBox="1"/>
          <p:nvPr/>
        </p:nvSpPr>
        <p:spPr>
          <a:xfrm>
            <a:off x="8366760" y="342900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5090 自身：eager 对 sdpa 基线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548640" y="470916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EEF6F1"/>
          </a:solidFill>
          <a:ln w="12700">
            <a:solidFill>
              <a:srgbClr val="EEF6F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68680" y="49834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结论写进支持契约：容差基线必须与待检端使用同一种注意力实现；未经核实的现象不下结论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无卡可审计：每个结论都能在浏览器里复核</a:t>
            </a:r>
            <a:endParaRPr lang="en-US" sz="3000" dirty="0"/>
          </a:p>
        </p:txBody>
      </p:sp>
      <p:pic>
        <p:nvPicPr>
          <p:cNvPr id="4" name="Image 0" descr="UniVis 在线体验页面截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6766560" cy="4544568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9436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cookiesheep.github.io/univis/play.html</a:t>
            </a:r>
            <a:endParaRPr lang="en-US" sz="1200" dirty="0"/>
          </a:p>
        </p:txBody>
      </p:sp>
      <p:sp>
        <p:nvSpPr>
          <p:cNvPr id="6" name="card"/>
          <p:cNvSpPr/>
          <p:nvPr/>
        </p:nvSpPr>
        <p:spPr>
          <a:xfrm>
            <a:off x="7680960" y="1325880"/>
            <a:ext cx="3931920" cy="1005840"/>
          </a:xfrm>
          <a:prstGeom prst="roundRect">
            <a:avLst>
              <a:gd name="adj" fmla="val 10909"/>
            </a:avLst>
          </a:prstGeom>
          <a:solidFill>
            <a:srgbClr val="F2F6F3"/>
          </a:solidFill>
          <a:ln w="12700">
            <a:solidFill>
              <a:srgbClr val="F2F6F3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955280" y="1490472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94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9418320" y="1490472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单元测试，CI 全绿</a:t>
            </a:r>
            <a:endParaRPr lang="en-US" sz="1350" dirty="0"/>
          </a:p>
        </p:txBody>
      </p:sp>
      <p:sp>
        <p:nvSpPr>
          <p:cNvPr id="9" name="card"/>
          <p:cNvSpPr/>
          <p:nvPr/>
        </p:nvSpPr>
        <p:spPr>
          <a:xfrm>
            <a:off x="7680960" y="2487168"/>
            <a:ext cx="3931920" cy="1005840"/>
          </a:xfrm>
          <a:prstGeom prst="roundRect">
            <a:avLst>
              <a:gd name="adj" fmla="val 10909"/>
            </a:avLst>
          </a:prstGeom>
          <a:solidFill>
            <a:srgbClr val="F2F6F3"/>
          </a:solidFill>
          <a:ln w="12700">
            <a:solidFill>
              <a:srgbClr val="F2F6F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955280" y="265176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0.7.1</a:t>
            </a:r>
            <a:endParaRPr lang="en-US" sz="2800" dirty="0"/>
          </a:p>
        </p:txBody>
      </p:sp>
      <p:sp>
        <p:nvSpPr>
          <p:cNvPr id="11" name="Text 7"/>
          <p:cNvSpPr txBox="1"/>
          <p:nvPr/>
        </p:nvSpPr>
        <p:spPr>
          <a:xfrm>
            <a:off x="9418320" y="265176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PyPI 已发布：pip install univis</a:t>
            </a:r>
            <a:endParaRPr lang="en-US" sz="1350" dirty="0"/>
          </a:p>
        </p:txBody>
      </p:sp>
      <p:sp>
        <p:nvSpPr>
          <p:cNvPr id="12" name="card"/>
          <p:cNvSpPr/>
          <p:nvPr/>
        </p:nvSpPr>
        <p:spPr>
          <a:xfrm>
            <a:off x="7680960" y="3648456"/>
            <a:ext cx="3931920" cy="1005840"/>
          </a:xfrm>
          <a:prstGeom prst="roundRect">
            <a:avLst>
              <a:gd name="adj" fmla="val 10909"/>
            </a:avLst>
          </a:prstGeom>
          <a:solidFill>
            <a:srgbClr val="F2F6F3"/>
          </a:solidFill>
          <a:ln w="12700">
            <a:solidFill>
              <a:srgbClr val="F2F6F3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955280" y="3813048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2</a:t>
            </a:r>
            <a:endParaRPr lang="en-US" sz="2800" dirty="0"/>
          </a:p>
        </p:txBody>
      </p:sp>
      <p:sp>
        <p:nvSpPr>
          <p:cNvPr id="14" name="Text 10"/>
          <p:cNvSpPr txBox="1"/>
          <p:nvPr/>
        </p:nvSpPr>
        <p:spPr>
          <a:xfrm>
            <a:off x="9418320" y="3813048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例负结果完整公开</a:t>
            </a:r>
            <a:endParaRPr lang="en-US" sz="1350" dirty="0"/>
          </a:p>
        </p:txBody>
      </p:sp>
      <p:sp>
        <p:nvSpPr>
          <p:cNvPr id="15" name="card"/>
          <p:cNvSpPr/>
          <p:nvPr/>
        </p:nvSpPr>
        <p:spPr>
          <a:xfrm>
            <a:off x="7680960" y="4809744"/>
            <a:ext cx="3931920" cy="1005840"/>
          </a:xfrm>
          <a:prstGeom prst="roundRect">
            <a:avLst>
              <a:gd name="adj" fmla="val 10909"/>
            </a:avLst>
          </a:prstGeom>
          <a:solidFill>
            <a:srgbClr val="F2F6F3"/>
          </a:solidFill>
          <a:ln w="12700">
            <a:solidFill>
              <a:srgbClr val="F2F6F3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955280" y="4974336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100%</a:t>
            </a:r>
            <a:endParaRPr lang="en-US" sz="2800" dirty="0"/>
          </a:p>
        </p:txBody>
      </p:sp>
      <p:sp>
        <p:nvSpPr>
          <p:cNvPr id="17" name="Text 13"/>
          <p:cNvSpPr txBox="1"/>
          <p:nvPr/>
        </p:nvSpPr>
        <p:spPr>
          <a:xfrm>
            <a:off x="9418320" y="4974336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真机结论附环境指纹与脚本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路线图：从「能在 C500 上跑」到「帮别人在 C500 上跑对」</a:t>
            </a:r>
            <a:endParaRPr lang="en-US" sz="3000" dirty="0"/>
          </a:p>
        </p:txBody>
      </p:sp>
      <p:sp>
        <p:nvSpPr>
          <p:cNvPr id="4" name="timeline"/>
          <p:cNvSpPr/>
          <p:nvPr/>
        </p:nvSpPr>
        <p:spPr>
          <a:xfrm>
            <a:off x="822960" y="2743200"/>
            <a:ext cx="10607040" cy="0"/>
          </a:xfrm>
          <a:prstGeom prst="line">
            <a:avLst/>
          </a:prstGeom>
          <a:noFill/>
          <a:ln w="25400">
            <a:solidFill>
              <a:srgbClr val="D1D5DB"/>
            </a:solidFill>
            <a:prstDash val="solid"/>
          </a:ln>
        </p:spPr>
      </p:sp>
      <p:sp>
        <p:nvSpPr>
          <p:cNvPr id="5" name="tl-dot"/>
          <p:cNvSpPr/>
          <p:nvPr/>
        </p:nvSpPr>
        <p:spPr>
          <a:xfrm>
            <a:off x="685800" y="2468880"/>
            <a:ext cx="548640" cy="548640"/>
          </a:xfrm>
          <a:prstGeom prst="ellipse">
            <a:avLst/>
          </a:prstGeom>
          <a:solidFill>
            <a:srgbClr val="3B915D"/>
          </a:solidFill>
          <a:ln w="25400">
            <a:solidFill>
              <a:srgbClr val="3B915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2468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6002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2026-08-19</a:t>
            </a:r>
            <a:endParaRPr lang="en-US" sz="1300" dirty="0"/>
          </a:p>
        </p:txBody>
      </p:sp>
      <p:sp>
        <p:nvSpPr>
          <p:cNvPr id="8" name="card"/>
          <p:cNvSpPr/>
          <p:nvPr/>
        </p:nvSpPr>
        <p:spPr>
          <a:xfrm>
            <a:off x="548640" y="3291840"/>
            <a:ext cx="2103120" cy="2377440"/>
          </a:xfrm>
          <a:prstGeom prst="roundRect">
            <a:avLst>
              <a:gd name="adj" fmla="val 5217"/>
            </a:avLst>
          </a:prstGeom>
          <a:solidFill>
            <a:srgbClr val="EEF6F1"/>
          </a:solidFill>
          <a:ln w="12700">
            <a:solidFill>
              <a:srgbClr val="EEF6F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3474720"/>
            <a:ext cx="1737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C500 采集通路验证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51663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已完成</a:t>
            </a:r>
            <a:endParaRPr lang="en-US" sz="1200" dirty="0"/>
          </a:p>
        </p:txBody>
      </p:sp>
      <p:sp>
        <p:nvSpPr>
          <p:cNvPr id="11" name="tl-dot"/>
          <p:cNvSpPr/>
          <p:nvPr/>
        </p:nvSpPr>
        <p:spPr>
          <a:xfrm>
            <a:off x="2926080" y="2468880"/>
            <a:ext cx="548640" cy="548640"/>
          </a:xfrm>
          <a:prstGeom prst="ellipse">
            <a:avLst/>
          </a:prstGeom>
          <a:solidFill>
            <a:srgbClr val="3B915D"/>
          </a:solidFill>
          <a:ln w="25400">
            <a:solidFill>
              <a:srgbClr val="3B915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926080" y="2468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B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788920" y="16002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2026-08-19</a:t>
            </a:r>
            <a:endParaRPr lang="en-US" sz="1300" dirty="0"/>
          </a:p>
        </p:txBody>
      </p:sp>
      <p:sp>
        <p:nvSpPr>
          <p:cNvPr id="14" name="card"/>
          <p:cNvSpPr/>
          <p:nvPr/>
        </p:nvSpPr>
        <p:spPr>
          <a:xfrm>
            <a:off x="2788920" y="3291840"/>
            <a:ext cx="2103120" cy="2377440"/>
          </a:xfrm>
          <a:prstGeom prst="roundRect">
            <a:avLst>
              <a:gd name="adj" fmla="val 5217"/>
            </a:avLst>
          </a:prstGeom>
          <a:solidFill>
            <a:srgbClr val="EEF6F1"/>
          </a:solidFill>
          <a:ln w="12700">
            <a:solidFill>
              <a:srgbClr val="EEF6F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971800" y="3474720"/>
            <a:ext cx="1737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C500 与 NVIDIA 跨规模一致性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971800" y="51663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已完成</a:t>
            </a:r>
            <a:endParaRPr lang="en-US" sz="1200" dirty="0"/>
          </a:p>
        </p:txBody>
      </p:sp>
      <p:sp>
        <p:nvSpPr>
          <p:cNvPr id="17" name="tl-dot"/>
          <p:cNvSpPr/>
          <p:nvPr/>
        </p:nvSpPr>
        <p:spPr>
          <a:xfrm>
            <a:off x="5166360" y="2468880"/>
            <a:ext cx="548640" cy="548640"/>
          </a:xfrm>
          <a:prstGeom prst="ellipse">
            <a:avLst/>
          </a:prstGeom>
          <a:solidFill>
            <a:srgbClr val="3B915D"/>
          </a:solidFill>
          <a:ln w="25400">
            <a:solidFill>
              <a:srgbClr val="3B915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166360" y="2468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5029200" y="16002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2026-10-30</a:t>
            </a:r>
            <a:endParaRPr lang="en-US" sz="1300" dirty="0"/>
          </a:p>
        </p:txBody>
      </p:sp>
      <p:sp>
        <p:nvSpPr>
          <p:cNvPr id="20" name="card"/>
          <p:cNvSpPr/>
          <p:nvPr/>
        </p:nvSpPr>
        <p:spPr>
          <a:xfrm>
            <a:off x="5029200" y="3291840"/>
            <a:ext cx="2103120" cy="2377440"/>
          </a:xfrm>
          <a:prstGeom prst="roundRect">
            <a:avLst>
              <a:gd name="adj" fmla="val 5217"/>
            </a:avLst>
          </a:prstGeom>
          <a:solidFill>
            <a:srgbClr val="EEF6F1"/>
          </a:solidFill>
          <a:ln w="12700">
            <a:solidFill>
              <a:srgbClr val="EEF6F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212080" y="3474720"/>
            <a:ext cx="1737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逐层对照真机验证：0.5B / 3B / 7B 全部 PASS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5212080" y="51663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已完成</a:t>
            </a:r>
            <a:endParaRPr lang="en-US" sz="1200" dirty="0"/>
          </a:p>
        </p:txBody>
      </p:sp>
      <p:sp>
        <p:nvSpPr>
          <p:cNvPr id="23" name="tl-dot"/>
          <p:cNvSpPr/>
          <p:nvPr/>
        </p:nvSpPr>
        <p:spPr>
          <a:xfrm>
            <a:off x="7406640" y="2468880"/>
            <a:ext cx="548640" cy="5486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9CA3A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406640" y="2468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C+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269480" y="16002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计划</a:t>
            </a:r>
            <a:endParaRPr lang="en-US" sz="1300" dirty="0"/>
          </a:p>
        </p:txBody>
      </p:sp>
      <p:sp>
        <p:nvSpPr>
          <p:cNvPr id="26" name="card"/>
          <p:cNvSpPr/>
          <p:nvPr/>
        </p:nvSpPr>
        <p:spPr>
          <a:xfrm>
            <a:off x="7269480" y="3291840"/>
            <a:ext cx="2103120" cy="2377440"/>
          </a:xfrm>
          <a:prstGeom prst="roundRect">
            <a:avLst>
              <a:gd name="adj" fmla="val 521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452360" y="3474720"/>
            <a:ext cx="1737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逐层耗时 → 换 FlagGems / mcTriton 算子 → 验证精度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452360" y="51663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计划</a:t>
            </a:r>
            <a:endParaRPr lang="en-US" sz="1200" dirty="0"/>
          </a:p>
        </p:txBody>
      </p:sp>
      <p:sp>
        <p:nvSpPr>
          <p:cNvPr id="29" name="tl-dot"/>
          <p:cNvSpPr/>
          <p:nvPr/>
        </p:nvSpPr>
        <p:spPr>
          <a:xfrm>
            <a:off x="9646920" y="2468880"/>
            <a:ext cx="548640" cy="5486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9CA3A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646920" y="2468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D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9509760" y="16002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计划</a:t>
            </a:r>
            <a:endParaRPr lang="en-US" sz="1300" dirty="0"/>
          </a:p>
        </p:txBody>
      </p:sp>
      <p:sp>
        <p:nvSpPr>
          <p:cNvPr id="32" name="card"/>
          <p:cNvSpPr/>
          <p:nvPr/>
        </p:nvSpPr>
        <p:spPr>
          <a:xfrm>
            <a:off x="9509760" y="3291840"/>
            <a:ext cx="2103120" cy="2377440"/>
          </a:xfrm>
          <a:prstGeom prst="roundRect">
            <a:avLst>
              <a:gd name="adj" fmla="val 521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9692640" y="3474720"/>
            <a:ext cx="1737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量化前后逐层对照，给出建议保留高精度的层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9692640" y="51663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计划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让每个模型在国产 GPU 上算得对</a:t>
            </a:r>
            <a:endParaRPr lang="en-US" sz="5400" dirty="0"/>
          </a:p>
        </p:txBody>
      </p:sp>
      <p:sp>
        <p:nvSpPr>
          <p:cNvPr id="3" name="layer-0"/>
          <p:cNvSpPr/>
          <p:nvPr/>
        </p:nvSpPr>
        <p:spPr>
          <a:xfrm>
            <a:off x="731520" y="3246120"/>
            <a:ext cx="181356" cy="292608"/>
          </a:xfrm>
          <a:prstGeom prst="roundRect">
            <a:avLst>
              <a:gd name="adj" fmla="val 20168"/>
            </a:avLst>
          </a:prstGeom>
          <a:solidFill>
            <a:srgbClr val="2F6F4A"/>
          </a:solidFill>
          <a:ln w="12700">
            <a:solidFill>
              <a:srgbClr val="2F6F4A"/>
            </a:solidFill>
            <a:prstDash val="solid"/>
          </a:ln>
        </p:spPr>
      </p:sp>
      <p:sp>
        <p:nvSpPr>
          <p:cNvPr id="4" name="layer-1"/>
          <p:cNvSpPr/>
          <p:nvPr/>
        </p:nvSpPr>
        <p:spPr>
          <a:xfrm>
            <a:off x="958596" y="3246120"/>
            <a:ext cx="181356" cy="292608"/>
          </a:xfrm>
          <a:prstGeom prst="roundRect">
            <a:avLst>
              <a:gd name="adj" fmla="val 20168"/>
            </a:avLst>
          </a:prstGeom>
          <a:solidFill>
            <a:srgbClr val="2F6F4A"/>
          </a:solidFill>
          <a:ln w="12700">
            <a:solidFill>
              <a:srgbClr val="2F6F4A"/>
            </a:solidFill>
            <a:prstDash val="solid"/>
          </a:ln>
        </p:spPr>
      </p:sp>
      <p:sp>
        <p:nvSpPr>
          <p:cNvPr id="5" name="layer-2"/>
          <p:cNvSpPr/>
          <p:nvPr/>
        </p:nvSpPr>
        <p:spPr>
          <a:xfrm>
            <a:off x="1185672" y="3246120"/>
            <a:ext cx="181356" cy="292608"/>
          </a:xfrm>
          <a:prstGeom prst="roundRect">
            <a:avLst>
              <a:gd name="adj" fmla="val 20168"/>
            </a:avLst>
          </a:prstGeom>
          <a:solidFill>
            <a:srgbClr val="2F6F4A"/>
          </a:solidFill>
          <a:ln w="12700">
            <a:solidFill>
              <a:srgbClr val="2F6F4A"/>
            </a:solidFill>
            <a:prstDash val="solid"/>
          </a:ln>
        </p:spPr>
      </p:sp>
      <p:sp>
        <p:nvSpPr>
          <p:cNvPr id="6" name="layer-3"/>
          <p:cNvSpPr/>
          <p:nvPr/>
        </p:nvSpPr>
        <p:spPr>
          <a:xfrm>
            <a:off x="1412748" y="3246120"/>
            <a:ext cx="181356" cy="292608"/>
          </a:xfrm>
          <a:prstGeom prst="roundRect">
            <a:avLst>
              <a:gd name="adj" fmla="val 20168"/>
            </a:avLst>
          </a:prstGeom>
          <a:solidFill>
            <a:srgbClr val="2F6F4A"/>
          </a:solidFill>
          <a:ln w="12700">
            <a:solidFill>
              <a:srgbClr val="2F6F4A"/>
            </a:solidFill>
            <a:prstDash val="solid"/>
          </a:ln>
        </p:spPr>
      </p:sp>
      <p:sp>
        <p:nvSpPr>
          <p:cNvPr id="7" name="layer-4"/>
          <p:cNvSpPr/>
          <p:nvPr/>
        </p:nvSpPr>
        <p:spPr>
          <a:xfrm>
            <a:off x="1639824" y="3246120"/>
            <a:ext cx="181356" cy="292608"/>
          </a:xfrm>
          <a:prstGeom prst="roundRect">
            <a:avLst>
              <a:gd name="adj" fmla="val 20168"/>
            </a:avLst>
          </a:prstGeom>
          <a:solidFill>
            <a:srgbClr val="2F6F4A"/>
          </a:solidFill>
          <a:ln w="12700">
            <a:solidFill>
              <a:srgbClr val="2F6F4A"/>
            </a:solidFill>
            <a:prstDash val="solid"/>
          </a:ln>
        </p:spPr>
      </p:sp>
      <p:sp>
        <p:nvSpPr>
          <p:cNvPr id="8" name="layer-5"/>
          <p:cNvSpPr/>
          <p:nvPr/>
        </p:nvSpPr>
        <p:spPr>
          <a:xfrm>
            <a:off x="1866900" y="3246120"/>
            <a:ext cx="181356" cy="292608"/>
          </a:xfrm>
          <a:prstGeom prst="roundRect">
            <a:avLst>
              <a:gd name="adj" fmla="val 20168"/>
            </a:avLst>
          </a:prstGeom>
          <a:solidFill>
            <a:srgbClr val="2F6F4A"/>
          </a:solidFill>
          <a:ln w="12700">
            <a:solidFill>
              <a:srgbClr val="2F6F4A"/>
            </a:solidFill>
            <a:prstDash val="solid"/>
          </a:ln>
        </p:spPr>
      </p:sp>
      <p:sp>
        <p:nvSpPr>
          <p:cNvPr id="9" name="layer-6"/>
          <p:cNvSpPr/>
          <p:nvPr/>
        </p:nvSpPr>
        <p:spPr>
          <a:xfrm>
            <a:off x="2093976" y="3246120"/>
            <a:ext cx="181356" cy="292608"/>
          </a:xfrm>
          <a:prstGeom prst="roundRect">
            <a:avLst>
              <a:gd name="adj" fmla="val 20168"/>
            </a:avLst>
          </a:prstGeom>
          <a:solidFill>
            <a:srgbClr val="2F6F4A"/>
          </a:solidFill>
          <a:ln w="12700">
            <a:solidFill>
              <a:srgbClr val="2F6F4A"/>
            </a:solidFill>
            <a:prstDash val="solid"/>
          </a:ln>
        </p:spPr>
      </p:sp>
      <p:sp>
        <p:nvSpPr>
          <p:cNvPr id="10" name="layer-7"/>
          <p:cNvSpPr/>
          <p:nvPr/>
        </p:nvSpPr>
        <p:spPr>
          <a:xfrm>
            <a:off x="2321052" y="3246120"/>
            <a:ext cx="181356" cy="292608"/>
          </a:xfrm>
          <a:prstGeom prst="roundRect">
            <a:avLst>
              <a:gd name="adj" fmla="val 20168"/>
            </a:avLst>
          </a:prstGeom>
          <a:solidFill>
            <a:srgbClr val="2F6F4A"/>
          </a:solidFill>
          <a:ln w="12700">
            <a:solidFill>
              <a:srgbClr val="2F6F4A"/>
            </a:solidFill>
            <a:prstDash val="solid"/>
          </a:ln>
        </p:spPr>
      </p:sp>
      <p:sp>
        <p:nvSpPr>
          <p:cNvPr id="11" name="layer-8"/>
          <p:cNvSpPr/>
          <p:nvPr/>
        </p:nvSpPr>
        <p:spPr>
          <a:xfrm>
            <a:off x="2548128" y="3246120"/>
            <a:ext cx="181356" cy="292608"/>
          </a:xfrm>
          <a:prstGeom prst="roundRect">
            <a:avLst>
              <a:gd name="adj" fmla="val 20168"/>
            </a:avLst>
          </a:prstGeom>
          <a:solidFill>
            <a:srgbClr val="2F6F4A"/>
          </a:solidFill>
          <a:ln w="12700">
            <a:solidFill>
              <a:srgbClr val="2F6F4A"/>
            </a:solidFill>
            <a:prstDash val="solid"/>
          </a:ln>
        </p:spPr>
      </p:sp>
      <p:sp>
        <p:nvSpPr>
          <p:cNvPr id="12" name="layer-9"/>
          <p:cNvSpPr/>
          <p:nvPr/>
        </p:nvSpPr>
        <p:spPr>
          <a:xfrm>
            <a:off x="2775204" y="3246120"/>
            <a:ext cx="181356" cy="292608"/>
          </a:xfrm>
          <a:prstGeom prst="roundRect">
            <a:avLst>
              <a:gd name="adj" fmla="val 20168"/>
            </a:avLst>
          </a:prstGeom>
          <a:solidFill>
            <a:srgbClr val="2F6F4A"/>
          </a:solidFill>
          <a:ln w="12700">
            <a:solidFill>
              <a:srgbClr val="2F6F4A"/>
            </a:solidFill>
            <a:prstDash val="solid"/>
          </a:ln>
        </p:spPr>
      </p:sp>
      <p:sp>
        <p:nvSpPr>
          <p:cNvPr id="13" name="layer-10"/>
          <p:cNvSpPr/>
          <p:nvPr/>
        </p:nvSpPr>
        <p:spPr>
          <a:xfrm>
            <a:off x="3002280" y="3246120"/>
            <a:ext cx="181356" cy="292608"/>
          </a:xfrm>
          <a:prstGeom prst="roundRect">
            <a:avLst>
              <a:gd name="adj" fmla="val 20168"/>
            </a:avLst>
          </a:prstGeom>
          <a:solidFill>
            <a:srgbClr val="2F6F4A"/>
          </a:solidFill>
          <a:ln w="12700">
            <a:solidFill>
              <a:srgbClr val="2F6F4A"/>
            </a:solidFill>
            <a:prstDash val="solid"/>
          </a:ln>
        </p:spPr>
      </p:sp>
      <p:sp>
        <p:nvSpPr>
          <p:cNvPr id="14" name="layer-11"/>
          <p:cNvSpPr/>
          <p:nvPr/>
        </p:nvSpPr>
        <p:spPr>
          <a:xfrm>
            <a:off x="3229356" y="3246120"/>
            <a:ext cx="181356" cy="292608"/>
          </a:xfrm>
          <a:prstGeom prst="roundRect">
            <a:avLst>
              <a:gd name="adj" fmla="val 20168"/>
            </a:avLst>
          </a:prstGeom>
          <a:solidFill>
            <a:srgbClr val="2F6F4A"/>
          </a:solidFill>
          <a:ln w="12700">
            <a:solidFill>
              <a:srgbClr val="2F6F4A"/>
            </a:solidFill>
            <a:prstDash val="solid"/>
          </a:ln>
        </p:spPr>
      </p:sp>
      <p:sp>
        <p:nvSpPr>
          <p:cNvPr id="15" name="layer-12"/>
          <p:cNvSpPr/>
          <p:nvPr/>
        </p:nvSpPr>
        <p:spPr>
          <a:xfrm>
            <a:off x="3456432" y="3246120"/>
            <a:ext cx="181356" cy="292608"/>
          </a:xfrm>
          <a:prstGeom prst="roundRect">
            <a:avLst>
              <a:gd name="adj" fmla="val 20168"/>
            </a:avLst>
          </a:prstGeom>
          <a:solidFill>
            <a:srgbClr val="2F6F4A"/>
          </a:solidFill>
          <a:ln w="12700">
            <a:solidFill>
              <a:srgbClr val="2F6F4A"/>
            </a:solidFill>
            <a:prstDash val="solid"/>
          </a:ln>
        </p:spPr>
      </p:sp>
      <p:sp>
        <p:nvSpPr>
          <p:cNvPr id="16" name="layer-13"/>
          <p:cNvSpPr/>
          <p:nvPr/>
        </p:nvSpPr>
        <p:spPr>
          <a:xfrm>
            <a:off x="3683508" y="3246120"/>
            <a:ext cx="181356" cy="292608"/>
          </a:xfrm>
          <a:prstGeom prst="roundRect">
            <a:avLst>
              <a:gd name="adj" fmla="val 20168"/>
            </a:avLst>
          </a:prstGeom>
          <a:solidFill>
            <a:srgbClr val="2F6F4A"/>
          </a:solidFill>
          <a:ln w="12700">
            <a:solidFill>
              <a:srgbClr val="2F6F4A"/>
            </a:solidFill>
            <a:prstDash val="solid"/>
          </a:ln>
        </p:spPr>
      </p:sp>
      <p:sp>
        <p:nvSpPr>
          <p:cNvPr id="17" name="layer-14"/>
          <p:cNvSpPr/>
          <p:nvPr/>
        </p:nvSpPr>
        <p:spPr>
          <a:xfrm>
            <a:off x="3910584" y="3246120"/>
            <a:ext cx="181356" cy="292608"/>
          </a:xfrm>
          <a:prstGeom prst="roundRect">
            <a:avLst>
              <a:gd name="adj" fmla="val 20168"/>
            </a:avLst>
          </a:prstGeom>
          <a:solidFill>
            <a:srgbClr val="2F6F4A"/>
          </a:solidFill>
          <a:ln w="12700">
            <a:solidFill>
              <a:srgbClr val="2F6F4A"/>
            </a:solidFill>
            <a:prstDash val="solid"/>
          </a:ln>
        </p:spPr>
      </p:sp>
      <p:sp>
        <p:nvSpPr>
          <p:cNvPr id="18" name="layer-15"/>
          <p:cNvSpPr/>
          <p:nvPr/>
        </p:nvSpPr>
        <p:spPr>
          <a:xfrm>
            <a:off x="4137660" y="3246120"/>
            <a:ext cx="181356" cy="292608"/>
          </a:xfrm>
          <a:prstGeom prst="roundRect">
            <a:avLst>
              <a:gd name="adj" fmla="val 20168"/>
            </a:avLst>
          </a:prstGeom>
          <a:solidFill>
            <a:srgbClr val="2F6F4A"/>
          </a:solidFill>
          <a:ln w="12700">
            <a:solidFill>
              <a:srgbClr val="2F6F4A"/>
            </a:solidFill>
            <a:prstDash val="solid"/>
          </a:ln>
        </p:spPr>
      </p:sp>
      <p:sp>
        <p:nvSpPr>
          <p:cNvPr id="19" name="layer-16"/>
          <p:cNvSpPr/>
          <p:nvPr/>
        </p:nvSpPr>
        <p:spPr>
          <a:xfrm>
            <a:off x="4364736" y="3246120"/>
            <a:ext cx="181356" cy="292608"/>
          </a:xfrm>
          <a:prstGeom prst="roundRect">
            <a:avLst>
              <a:gd name="adj" fmla="val 20168"/>
            </a:avLst>
          </a:prstGeom>
          <a:solidFill>
            <a:srgbClr val="2F6F4A"/>
          </a:solidFill>
          <a:ln w="12700">
            <a:solidFill>
              <a:srgbClr val="2F6F4A"/>
            </a:solidFill>
            <a:prstDash val="solid"/>
          </a:ln>
        </p:spPr>
      </p:sp>
      <p:sp>
        <p:nvSpPr>
          <p:cNvPr id="20" name="layer-17"/>
          <p:cNvSpPr/>
          <p:nvPr/>
        </p:nvSpPr>
        <p:spPr>
          <a:xfrm>
            <a:off x="4591812" y="3246120"/>
            <a:ext cx="181356" cy="292608"/>
          </a:xfrm>
          <a:prstGeom prst="roundRect">
            <a:avLst>
              <a:gd name="adj" fmla="val 20168"/>
            </a:avLst>
          </a:prstGeom>
          <a:solidFill>
            <a:srgbClr val="2F6F4A"/>
          </a:solidFill>
          <a:ln w="12700">
            <a:solidFill>
              <a:srgbClr val="2F6F4A"/>
            </a:solidFill>
            <a:prstDash val="solid"/>
          </a:ln>
        </p:spPr>
      </p:sp>
      <p:sp>
        <p:nvSpPr>
          <p:cNvPr id="21" name="layer-18"/>
          <p:cNvSpPr/>
          <p:nvPr/>
        </p:nvSpPr>
        <p:spPr>
          <a:xfrm>
            <a:off x="4818888" y="3246120"/>
            <a:ext cx="181356" cy="292608"/>
          </a:xfrm>
          <a:prstGeom prst="roundRect">
            <a:avLst>
              <a:gd name="adj" fmla="val 20168"/>
            </a:avLst>
          </a:prstGeom>
          <a:solidFill>
            <a:srgbClr val="2F6F4A"/>
          </a:solidFill>
          <a:ln w="12700">
            <a:solidFill>
              <a:srgbClr val="2F6F4A"/>
            </a:solidFill>
            <a:prstDash val="solid"/>
          </a:ln>
        </p:spPr>
      </p:sp>
      <p:sp>
        <p:nvSpPr>
          <p:cNvPr id="22" name="layer-19"/>
          <p:cNvSpPr/>
          <p:nvPr/>
        </p:nvSpPr>
        <p:spPr>
          <a:xfrm>
            <a:off x="5045964" y="3246120"/>
            <a:ext cx="181356" cy="292608"/>
          </a:xfrm>
          <a:prstGeom prst="roundRect">
            <a:avLst>
              <a:gd name="adj" fmla="val 20168"/>
            </a:avLst>
          </a:prstGeom>
          <a:solidFill>
            <a:srgbClr val="2F6F4A"/>
          </a:solidFill>
          <a:ln w="12700">
            <a:solidFill>
              <a:srgbClr val="2F6F4A"/>
            </a:solidFill>
            <a:prstDash val="solid"/>
          </a:ln>
        </p:spPr>
      </p:sp>
      <p:sp>
        <p:nvSpPr>
          <p:cNvPr id="23" name="layer-20"/>
          <p:cNvSpPr/>
          <p:nvPr/>
        </p:nvSpPr>
        <p:spPr>
          <a:xfrm>
            <a:off x="5273040" y="3246120"/>
            <a:ext cx="181356" cy="292608"/>
          </a:xfrm>
          <a:prstGeom prst="roundRect">
            <a:avLst>
              <a:gd name="adj" fmla="val 20168"/>
            </a:avLst>
          </a:prstGeom>
          <a:solidFill>
            <a:srgbClr val="2F6F4A"/>
          </a:solidFill>
          <a:ln w="12700">
            <a:solidFill>
              <a:srgbClr val="2F6F4A"/>
            </a:solidFill>
            <a:prstDash val="solid"/>
          </a:ln>
        </p:spPr>
      </p:sp>
      <p:sp>
        <p:nvSpPr>
          <p:cNvPr id="24" name="layer-21"/>
          <p:cNvSpPr/>
          <p:nvPr/>
        </p:nvSpPr>
        <p:spPr>
          <a:xfrm>
            <a:off x="5500116" y="3246120"/>
            <a:ext cx="181356" cy="292608"/>
          </a:xfrm>
          <a:prstGeom prst="roundRect">
            <a:avLst>
              <a:gd name="adj" fmla="val 20168"/>
            </a:avLst>
          </a:prstGeom>
          <a:solidFill>
            <a:srgbClr val="2F6F4A"/>
          </a:solidFill>
          <a:ln w="12700">
            <a:solidFill>
              <a:srgbClr val="2F6F4A"/>
            </a:solidFill>
            <a:prstDash val="solid"/>
          </a:ln>
        </p:spPr>
      </p:sp>
      <p:sp>
        <p:nvSpPr>
          <p:cNvPr id="25" name="layer-22"/>
          <p:cNvSpPr/>
          <p:nvPr/>
        </p:nvSpPr>
        <p:spPr>
          <a:xfrm>
            <a:off x="5727192" y="3246120"/>
            <a:ext cx="181356" cy="292608"/>
          </a:xfrm>
          <a:prstGeom prst="roundRect">
            <a:avLst>
              <a:gd name="adj" fmla="val 20168"/>
            </a:avLst>
          </a:prstGeom>
          <a:solidFill>
            <a:srgbClr val="2F6F4A"/>
          </a:solidFill>
          <a:ln w="12700">
            <a:solidFill>
              <a:srgbClr val="2F6F4A"/>
            </a:solidFill>
            <a:prstDash val="solid"/>
          </a:ln>
        </p:spPr>
      </p:sp>
      <p:sp>
        <p:nvSpPr>
          <p:cNvPr id="26" name="layer-23"/>
          <p:cNvSpPr/>
          <p:nvPr/>
        </p:nvSpPr>
        <p:spPr>
          <a:xfrm>
            <a:off x="5954268" y="3246120"/>
            <a:ext cx="181356" cy="292608"/>
          </a:xfrm>
          <a:prstGeom prst="roundRect">
            <a:avLst>
              <a:gd name="adj" fmla="val 20168"/>
            </a:avLst>
          </a:prstGeom>
          <a:solidFill>
            <a:srgbClr val="2F6F4A"/>
          </a:solidFill>
          <a:ln w="12700">
            <a:solidFill>
              <a:srgbClr val="2F6F4A"/>
            </a:solidFill>
            <a:prstDash val="solid"/>
          </a:ln>
        </p:spPr>
      </p:sp>
      <p:sp>
        <p:nvSpPr>
          <p:cNvPr id="27" name="layer-24"/>
          <p:cNvSpPr/>
          <p:nvPr/>
        </p:nvSpPr>
        <p:spPr>
          <a:xfrm>
            <a:off x="6181344" y="3246120"/>
            <a:ext cx="181356" cy="292608"/>
          </a:xfrm>
          <a:prstGeom prst="roundRect">
            <a:avLst>
              <a:gd name="adj" fmla="val 20168"/>
            </a:avLst>
          </a:prstGeom>
          <a:solidFill>
            <a:srgbClr val="2F6F4A"/>
          </a:solidFill>
          <a:ln w="12700">
            <a:solidFill>
              <a:srgbClr val="2F6F4A"/>
            </a:solidFill>
            <a:prstDash val="solid"/>
          </a:ln>
        </p:spPr>
      </p:sp>
      <p:sp>
        <p:nvSpPr>
          <p:cNvPr id="28" name="layer-25"/>
          <p:cNvSpPr/>
          <p:nvPr/>
        </p:nvSpPr>
        <p:spPr>
          <a:xfrm>
            <a:off x="6408420" y="3246120"/>
            <a:ext cx="181356" cy="292608"/>
          </a:xfrm>
          <a:prstGeom prst="roundRect">
            <a:avLst>
              <a:gd name="adj" fmla="val 20168"/>
            </a:avLst>
          </a:prstGeom>
          <a:solidFill>
            <a:srgbClr val="2F6F4A"/>
          </a:solidFill>
          <a:ln w="12700">
            <a:solidFill>
              <a:srgbClr val="2F6F4A"/>
            </a:solidFill>
            <a:prstDash val="solid"/>
          </a:ln>
        </p:spPr>
      </p:sp>
      <p:sp>
        <p:nvSpPr>
          <p:cNvPr id="29" name="layer-26"/>
          <p:cNvSpPr/>
          <p:nvPr/>
        </p:nvSpPr>
        <p:spPr>
          <a:xfrm>
            <a:off x="6635496" y="3246120"/>
            <a:ext cx="181356" cy="292608"/>
          </a:xfrm>
          <a:prstGeom prst="roundRect">
            <a:avLst>
              <a:gd name="adj" fmla="val 20168"/>
            </a:avLst>
          </a:prstGeom>
          <a:solidFill>
            <a:srgbClr val="2F6F4A"/>
          </a:solidFill>
          <a:ln w="12700">
            <a:solidFill>
              <a:srgbClr val="2F6F4A"/>
            </a:solidFill>
            <a:prstDash val="solid"/>
          </a:ln>
        </p:spPr>
      </p:sp>
      <p:sp>
        <p:nvSpPr>
          <p:cNvPr id="30" name="layer-27"/>
          <p:cNvSpPr/>
          <p:nvPr/>
        </p:nvSpPr>
        <p:spPr>
          <a:xfrm>
            <a:off x="6862572" y="3246120"/>
            <a:ext cx="181356" cy="292608"/>
          </a:xfrm>
          <a:prstGeom prst="roundRect">
            <a:avLst>
              <a:gd name="adj" fmla="val 20168"/>
            </a:avLst>
          </a:prstGeom>
          <a:solidFill>
            <a:srgbClr val="2F6F4A"/>
          </a:solidFill>
          <a:ln w="12700">
            <a:solidFill>
              <a:srgbClr val="2F6F4A"/>
            </a:solidFill>
            <a:prstDash val="solid"/>
          </a:ln>
        </p:spPr>
      </p:sp>
      <p:sp>
        <p:nvSpPr>
          <p:cNvPr id="31" name="layer-28"/>
          <p:cNvSpPr/>
          <p:nvPr/>
        </p:nvSpPr>
        <p:spPr>
          <a:xfrm>
            <a:off x="7089648" y="3246120"/>
            <a:ext cx="181356" cy="292608"/>
          </a:xfrm>
          <a:prstGeom prst="roundRect">
            <a:avLst>
              <a:gd name="adj" fmla="val 20168"/>
            </a:avLst>
          </a:prstGeom>
          <a:solidFill>
            <a:srgbClr val="2F6F4A"/>
          </a:solidFill>
          <a:ln w="12700">
            <a:solidFill>
              <a:srgbClr val="2F6F4A"/>
            </a:solidFill>
            <a:prstDash val="solid"/>
          </a:ln>
        </p:spPr>
      </p:sp>
      <p:sp>
        <p:nvSpPr>
          <p:cNvPr id="32" name="layer-29"/>
          <p:cNvSpPr/>
          <p:nvPr/>
        </p:nvSpPr>
        <p:spPr>
          <a:xfrm>
            <a:off x="7316724" y="3246120"/>
            <a:ext cx="181356" cy="292608"/>
          </a:xfrm>
          <a:prstGeom prst="roundRect">
            <a:avLst>
              <a:gd name="adj" fmla="val 20168"/>
            </a:avLst>
          </a:prstGeom>
          <a:solidFill>
            <a:srgbClr val="2F6F4A"/>
          </a:solidFill>
          <a:ln w="12700">
            <a:solidFill>
              <a:srgbClr val="2F6F4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31520" y="393192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D7E8DD"/>
                </a:solidFill>
              </a:rPr>
              <a:t>在线体验　cookiesheep.github.io/univis/play.html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D7E8DD"/>
                </a:solidFill>
              </a:rPr>
              <a:t>GitHub　　github.com/cookiesheep/univis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D7E8DD"/>
                </a:solidFill>
              </a:rPr>
              <a:t>PyPI　　　pip install univis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731520" y="576072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FB59C"/>
                </a:solidFill>
              </a:rPr>
              <a:t>欢迎在国产 GPU 上遇到「输出和 NVIDIA 不一样」时来提 issue，我们一起用 univis diff 定位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UniVis Layer Green">
  <a:themeElements>
    <a:clrScheme name="UniVis Layer Green">
      <a:dk1>
        <a:srgbClr val="1F2328"/>
      </a:dk1>
      <a:lt1>
        <a:srgbClr val="FFFFFF"/>
      </a:lt1>
      <a:dk2>
        <a:srgbClr val="12271C"/>
      </a:dk2>
      <a:lt2>
        <a:srgbClr val="F2F6F3"/>
      </a:lt2>
      <a:accent1>
        <a:srgbClr val="3B915D"/>
      </a:accent1>
      <a:accent2>
        <a:srgbClr val="C2410C"/>
      </a:accent2>
      <a:accent3>
        <a:srgbClr val="0E7490"/>
      </a:accent3>
      <a:accent4>
        <a:srgbClr val="7C3AED"/>
      </a:accent4>
      <a:accent5>
        <a:srgbClr val="9CA3AF"/>
      </a:accent5>
      <a:accent6>
        <a:srgbClr val="A7D3B6"/>
      </a:accent6>
      <a:hlink>
        <a:srgbClr val="3B915D"/>
      </a:hlink>
      <a:folHlink>
        <a:srgbClr val="2F6F4A"/>
      </a:folHlink>
    </a:clrScheme>
    <a:fontScheme name="UniVis Layer Green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UniVis — 国产 GPU 上的大模型逐层对照</dc:title>
  <dc:subject>PptxGenJS Presentation</dc:subject>
  <dc:creator>PptxGenJS</dc:creator>
  <cp:lastModifiedBy>PptxGenJS</cp:lastModifiedBy>
  <cp:revision>1</cp:revision>
  <dcterms:created xsi:type="dcterms:W3CDTF">2026-10-30T11:47:34Z</dcterms:created>
  <dcterms:modified xsi:type="dcterms:W3CDTF">2026-10-30T11:47:34Z</dcterms:modified>
</cp:coreProperties>
</file>